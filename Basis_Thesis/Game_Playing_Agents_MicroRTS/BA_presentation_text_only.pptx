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and evaluation of the reinforcement learning methods Self-Play and League Training in the MicroRTS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 for the bachelor thesis</a:t>
            </a:r>
          </a:p>
          <a:p>
            <a:pPr lvl="0" indent="0" marL="0">
              <a:buNone/>
            </a:pPr>
            <a:r>
              <a:rPr/>
              <a:t>Niklas Glaser</a:t>
            </a:r>
          </a:p>
          <a:p>
            <a:pPr lvl="0" indent="0" marL="0">
              <a:buNone/>
            </a:pPr>
            <a:r>
              <a:rPr/>
              <a:t>Heinrich-Heine-Universität Düsseldorf</a:t>
            </a:r>
          </a:p>
          <a:p>
            <a:pPr lvl="0" indent="0" marL="0">
              <a:buNone/>
            </a:pPr>
            <a:r>
              <a:rPr/>
              <a:t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Motivation</a:t>
            </a:r>
          </a:p>
          <a:p>
            <a:pPr lvl="0"/>
            <a:r>
              <a:rPr/>
              <a:t>Approach</a:t>
            </a:r>
          </a:p>
          <a:p>
            <a:pPr lvl="0"/>
            <a:r>
              <a:rPr/>
              <a:t>Experiments</a:t>
            </a:r>
          </a:p>
          <a:p>
            <a:pPr lvl="0"/>
            <a:r>
              <a:rPr/>
              <a:t>Results</a:t>
            </a:r>
          </a:p>
          <a:p>
            <a:pPr lvl="0"/>
            <a:r>
              <a:rPr/>
              <a:t>Discussion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and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Base Agent</a:t>
            </a:r>
          </a:p>
          <a:p>
            <a:pPr lvl="0"/>
            <a:r>
              <a:rPr/>
              <a:t>combination of Behavioral Cloning (BC) and Proximal Policy Optimization (PPO)</a:t>
            </a:r>
          </a:p>
          <a:p>
            <a:pPr lvl="0"/>
            <a:r>
              <a:rPr/>
              <a:t>strong baseline, but weaknesses against several opponents</a:t>
            </a:r>
          </a:p>
          <a:p>
            <a:pPr lvl="0" indent="0" marL="0">
              <a:buNone/>
            </a:pPr>
            <a:r>
              <a:rPr b="1"/>
              <a:t>Goal</a:t>
            </a:r>
          </a:p>
          <a:p>
            <a:pPr lvl="0"/>
            <a:r>
              <a:rPr/>
              <a:t>improve the Base Agent with League Training (LT)</a:t>
            </a:r>
          </a:p>
          <a:p>
            <a:pPr lvl="0"/>
            <a:r>
              <a:rPr/>
              <a:t>training against a more diverse set of opponents</a:t>
            </a:r>
          </a:p>
          <a:p>
            <a:pPr lvl="0"/>
            <a:r>
              <a:rPr/>
              <a:t>focus on robustness and generalization</a:t>
            </a:r>
          </a:p>
          <a:p>
            <a:pPr lvl="0" indent="0" marL="0">
              <a:buNone/>
            </a:pPr>
            <a:r>
              <a:rPr b="1"/>
              <a:t>Research Question</a:t>
            </a:r>
          </a:p>
          <a:p>
            <a:pPr lvl="0"/>
            <a:r>
              <a:rPr/>
              <a:t>How much does LT with PPO improve robustness and generalization of the BC/PPO-pretrained agent?</a:t>
            </a:r>
          </a:p>
          <a:p>
            <a:pPr lvl="0"/>
            <a:r>
              <a:rPr/>
              <a:t>How strongly does this depend on the diversity of initial agents and BC experts?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MicroRTS</a:t>
            </a:r>
          </a:p>
          <a:p>
            <a:pPr lvl="0"/>
            <a:r>
              <a:rPr/>
              <a:t>simplified RTS environment for RL research</a:t>
            </a:r>
          </a:p>
          <a:p>
            <a:pPr lvl="0"/>
            <a:r>
              <a:rPr/>
              <a:t>still contains resource management, unit production and combat</a:t>
            </a:r>
          </a:p>
          <a:p>
            <a:pPr lvl="0"/>
            <a:r>
              <a:rPr/>
              <a:t>supports controlled and repeatable experiments</a:t>
            </a:r>
          </a:p>
          <a:p>
            <a:pPr lvl="0" indent="0" marL="0">
              <a:buNone/>
            </a:pPr>
            <a:r>
              <a:rPr b="1"/>
              <a:t>Main RL challenges</a:t>
            </a:r>
          </a:p>
          <a:p>
            <a:pPr lvl="0"/>
            <a:r>
              <a:rPr/>
              <a:t>large combinatorial action space</a:t>
            </a:r>
          </a:p>
          <a:p>
            <a:pPr lvl="0"/>
            <a:r>
              <a:rPr/>
              <a:t>simultaneous decisions</a:t>
            </a:r>
          </a:p>
          <a:p>
            <a:pPr lvl="0"/>
            <a:r>
              <a:rPr/>
              <a:t>delayed and sparse rewards</a:t>
            </a:r>
          </a:p>
          <a:p>
            <a:pPr lvl="0"/>
            <a:r>
              <a:rPr/>
              <a:t>robustness against diverse opponents</a:t>
            </a:r>
          </a:p>
          <a:p>
            <a:pPr lvl="0" indent="0" marL="0">
              <a:buNone/>
            </a:pPr>
            <a:r>
              <a:rPr/>
              <a:t>Click the play area in Foxit Reader to start the embedded MicroRTS example video.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BC → BC-FT → PPO → LT → PPO fine-tuning</a:t>
            </a:r>
          </a:p>
          <a:p>
            <a:pPr lvl="0"/>
            <a:r>
              <a:rPr b="1"/>
              <a:t>BC / BC-FT:</a:t>
            </a:r>
            <a:r>
              <a:rPr/>
              <a:t> imitate strong scripted opponents to obtain a competent initial policy</a:t>
            </a:r>
          </a:p>
          <a:p>
            <a:pPr lvl="0"/>
            <a:r>
              <a:rPr b="1"/>
              <a:t>PPO:</a:t>
            </a:r>
            <a:r>
              <a:rPr/>
              <a:t> refine the policy through exploration</a:t>
            </a:r>
          </a:p>
          <a:p>
            <a:pPr lvl="0"/>
            <a:r>
              <a:rPr b="1"/>
              <a:t>LT:</a:t>
            </a:r>
            <a:r>
              <a:rPr/>
              <a:t> train against a population of evolving opponents instead of only bots or pure self-play</a:t>
            </a:r>
          </a:p>
          <a:p>
            <a:pPr lvl="0"/>
            <a:r>
              <a:rPr b="1"/>
              <a:t>Fine-tuning:</a:t>
            </a:r>
            <a:r>
              <a:rPr/>
              <a:t> fix remaining weaknesses after LT, especially against WorkerRushAI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SP to 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SP:</a:t>
            </a:r>
            <a:r>
              <a:rPr/>
              <a:t> train against the current version of the agent; simple, but prone to overfitting or cyclical strategies</a:t>
            </a:r>
          </a:p>
          <a:p>
            <a:pPr lvl="0"/>
            <a:r>
              <a:rPr b="1"/>
              <a:t>FSP:</a:t>
            </a:r>
            <a:r>
              <a:rPr/>
              <a:t> train against a set of past policies; reduces forgetting, but opponent choice is still crude</a:t>
            </a:r>
          </a:p>
          <a:p>
            <a:pPr lvl="0"/>
            <a:r>
              <a:rPr b="1"/>
              <a:t>PFSP:</a:t>
            </a:r>
            <a:r>
              <a:rPr/>
              <a:t> sample opponents based on current win rates; focuses on informative and non-trivial matchups</a:t>
            </a:r>
          </a:p>
          <a:p>
            <a:pPr lvl="0"/>
            <a:r>
              <a:rPr b="1"/>
              <a:t>LT:</a:t>
            </a:r>
            <a:r>
              <a:rPr/>
              <a:t> add role-based agents: Main Agent, Historical Agents, Main Exploiters and League Exploiters</a:t>
            </a:r>
          </a:p>
          <a:p>
            <a:pPr lvl="0" indent="0" marL="0">
              <a:buNone/>
            </a:pPr>
            <a:r>
              <a:rPr b="1"/>
              <a:t>Why LT?</a:t>
            </a:r>
          </a:p>
          <a:p>
            <a:pPr lvl="0" indent="0" marL="0">
              <a:buNone/>
            </a:pPr>
            <a:r>
              <a:rPr/>
              <a:t>LT does not only preserve diversity through historical snapshots, it also creates diversity through exploiters that actively search for weaknesses of the current policy.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League Training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Main Agent:</a:t>
            </a:r>
            <a:r>
              <a:rPr/>
              <a:t> primary policy</a:t>
            </a:r>
          </a:p>
          <a:p>
            <a:pPr lvl="0"/>
            <a:r>
              <a:rPr b="1"/>
              <a:t>Historical Agents:</a:t>
            </a:r>
            <a:r>
              <a:rPr/>
              <a:t> frozen snapshots for stability</a:t>
            </a:r>
          </a:p>
          <a:p>
            <a:pPr lvl="0"/>
            <a:r>
              <a:rPr b="1"/>
              <a:t>Main Exploiters:</a:t>
            </a:r>
            <a:r>
              <a:rPr/>
              <a:t> exploit weaknesses of historical Main Agents</a:t>
            </a:r>
          </a:p>
          <a:p>
            <a:pPr lvl="0"/>
            <a:r>
              <a:rPr b="1"/>
              <a:t>League Exploiters:</a:t>
            </a:r>
            <a:r>
              <a:rPr/>
              <a:t> search for broader league weaknesses</a:t>
            </a:r>
          </a:p>
          <a:p>
            <a:pPr lvl="0" indent="0" marL="0">
              <a:buNone/>
            </a:pPr>
            <a:r>
              <a:rPr b="1"/>
              <a:t>Key idea</a:t>
            </a:r>
          </a:p>
          <a:p>
            <a:pPr lvl="0" indent="0" marL="0">
              <a:buNone/>
            </a:pPr>
            <a:r>
              <a:rPr/>
              <a:t>LT turns robustness against diverse opponents into part of the optimization target.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additional dynamic bot environments (CoacAI and Mayari)</a:t>
            </a:r>
          </a:p>
          <a:p>
            <a:pPr lvl="0"/>
            <a:r>
              <a:rPr/>
              <a:t>scripted bots: CoacAI, Mayari, WorkerRushAI, PassiveAI, LightRushAI, RandomAI and RandomBiasedAI</a:t>
            </a:r>
          </a:p>
          <a:p>
            <a:pPr lvl="0"/>
            <a:r>
              <a:rPr/>
              <a:t>MCTS based bots: Rojo, MixedBot, Izanagi, Tiamat, Droplet, GuidedRojoA3N and NaiveMCTS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Adjustment for 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Player 2 observations are transformed so SP remains compatible with a Base Agent only trained as Player 1.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LT Matchmaking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Matchmaking and opponent sampling in the LT setup.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Implementation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delta score</a:t>
            </a:r>
          </a:p>
          <a:p>
            <a:pPr lvl="0"/>
            <a:r>
              <a:rPr/>
              <a:t>annealed entropy coefficient</a:t>
            </a:r>
          </a:p>
          <a:p>
            <a:pPr lvl="0"/>
            <a:r>
              <a:rPr/>
              <a:t>new initial agents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map: </a:t>
            </a:r>
            <a:r>
              <a:rPr>
                <a:latin typeface="Courier"/>
              </a:rPr>
              <a:t>basesWorkers16x16A</a:t>
            </a:r>
          </a:p>
          <a:p>
            <a:pPr lvl="0"/>
            <a:r>
              <a:rPr/>
              <a:t>LT setup: 1 Main Agent, 4 Main Exploiters, 1 League Exploiter</a:t>
            </a:r>
          </a:p>
          <a:p>
            <a:pPr lvl="0"/>
            <a:r>
              <a:rPr/>
              <a:t>25 environments per learning agent</a:t>
            </a:r>
          </a:p>
          <a:p>
            <a:pPr lvl="0"/>
            <a:r>
              <a:rPr/>
              <a:t>5 to 10 additional dynamic bot environments</a:t>
            </a:r>
          </a:p>
          <a:p>
            <a:pPr lvl="0"/>
            <a:r>
              <a:rPr/>
              <a:t>approximately 130 million LT steps</a:t>
            </a:r>
          </a:p>
          <a:p>
            <a:pPr lvl="0"/>
            <a:r>
              <a:rPr/>
              <a:t>training time: about 100 hours</a:t>
            </a:r>
          </a:p>
          <a:p>
            <a:pPr lvl="0"/>
            <a:r>
              <a:rPr/>
              <a:t>maximum setup size: 160 parallel environments</a:t>
            </a:r>
          </a:p>
          <a:p>
            <a:pPr lvl="0"/>
            <a:r>
              <a:rPr/>
              <a:t>evaluations over at least 100 games against 12 opponents after LT and after fine-tuning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Quantitative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overall loss rate drops from </a:t>
            </a:r>
            <a:r>
              <a:rPr b="1"/>
              <a:t>7.7%</a:t>
            </a:r>
            <a:r>
              <a:rPr/>
              <a:t> to </a:t>
            </a:r>
            <a:r>
              <a:rPr b="1"/>
              <a:t>2.2%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 Agent without new initial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Base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 Agent (LT)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 Agent + Fine-tuning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bots used in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CoacAI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Mayari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Built-in bots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WorkerRushAI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99.5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PassiveAI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99.7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LightRushAI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RandomBiasedAI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97.5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Other bots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Rojo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60.5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Izanagi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72.5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Tiamat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99.0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75.5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GuidedRojoA3N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88.5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NaiveMCTS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6.5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76.5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85.7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Evaluation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 Agent without new initial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Base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 Agent (LT)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Main Agent + Fine-tuning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bots used in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CoacAI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Mayari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Built-in bots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WorkerRushAI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PassiveAI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LightRushAI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RandomBiasedAI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Other bots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Rojo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33.0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13.5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Izanagi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6.0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Tiamat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GuidedRojoA3N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NaiveMCTS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2.2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 of the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hypothesis:</a:t>
            </a:r>
          </a:p>
          <a:p>
            <a:pPr lvl="0"/>
            <a:r>
              <a:rPr/>
              <a:t>LT turns robustness against diverse opponents into part of the optimization target</a:t>
            </a:r>
          </a:p>
          <a:p>
            <a:pPr lvl="0"/>
            <a:r>
              <a:rPr/>
              <a:t>LT helps to find a better local optimum that is then further improved by fine-tuning, while pure PPO often gets stuck in not as generalized local optima.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Player 1 Priority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Observation</a:t>
            </a:r>
          </a:p>
          <a:p>
            <a:pPr lvl="0" indent="0" marL="0">
              <a:buNone/>
            </a:pPr>
            <a:r>
              <a:rPr/>
              <a:t>MicroRTS gives player 1 action priority, so a potential concern is that self-play style training could accidentally favor player-1-specific behavior.</a:t>
            </a:r>
          </a:p>
          <a:p>
            <a:pPr lvl="0" indent="0" marL="0">
              <a:buNone/>
            </a:pPr>
            <a:r>
              <a:rPr b="1"/>
              <a:t>Result from the thesis</a:t>
            </a:r>
          </a:p>
          <a:p>
            <a:pPr lvl="0" indent="0" marL="0">
              <a:buNone/>
            </a:pPr>
            <a:r>
              <a:rPr/>
              <a:t>In one self-match evaluation of the same agent over 200 games, player 1 achieved 38% wins, 28% draws and player 2 achieved 34% wins.</a:t>
            </a:r>
          </a:p>
          <a:p>
            <a:pPr lvl="0"/>
            <a:r>
              <a:rPr/>
              <a:t>minimal effect onevaluations</a:t>
            </a:r>
          </a:p>
          <a:p>
            <a:pPr lvl="0"/>
            <a:r>
              <a:rPr/>
              <a:t>alternating the learning side to prevent the agent from exploiting player-1-specific priority</a:t>
            </a:r>
          </a:p>
          <a:p>
            <a:pPr lvl="0" indent="0" marL="0">
              <a:buNone/>
            </a:pPr>
            <a:r>
              <a:rPr/>
              <a:t>Open Player 1 Priority Example Video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Limitation: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Agent vs Base Agent</a:t>
            </a:r>
          </a:p>
          <a:p>
            <a:pPr lvl="0" indent="0" marL="0">
              <a:buNone/>
            </a:pPr>
            <a:r>
              <a:rPr/>
              <a:t>Video example for the Base Agent's preferred strategy</a:t>
            </a:r>
          </a:p>
          <a:p>
            <a:pPr lvl="0" indent="0" marL="0">
              <a:buNone/>
            </a:pPr>
            <a:r>
              <a:rPr/>
              <a:t>Open Video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Limitation: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Exploiters initialized from similar policies tend to discover similar weaknesses.</a:t>
            </a:r>
          </a:p>
          <a:p>
            <a:pPr lvl="0"/>
            <a:r>
              <a:rPr/>
              <a:t>Some strategically different exploits are hard to reach because they require first unlearning the Base Agent's preferred behavior.</a:t>
            </a:r>
          </a:p>
          <a:p>
            <a:pPr lvl="0"/>
            <a:r>
              <a:rPr/>
              <a:t>New initial agents with focuses on different unit types to improve exploiter diversity and Main Agent generalization.</a:t>
            </a:r>
          </a:p>
          <a:p>
            <a:pPr lvl="0"/>
            <a:r>
              <a:rPr/>
              <a:t>Hypothesis: LT therefore depends strongly on the diversity already present at initialization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and Remaining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evaluation is limited to one map: </a:t>
            </a:r>
            <a:r>
              <a:rPr>
                <a:latin typeface="Courier"/>
              </a:rPr>
              <a:t>basesWorkers16x16A</a:t>
            </a:r>
          </a:p>
          <a:p>
            <a:pPr lvl="0"/>
            <a:r>
              <a:rPr/>
              <a:t>the setting uses full observability and no fog of war</a:t>
            </a:r>
          </a:p>
          <a:p>
            <a:pPr lvl="0"/>
            <a:r>
              <a:rPr/>
              <a:t>high computational cost</a:t>
            </a:r>
          </a:p>
          <a:p>
            <a:pPr lvl="0"/>
            <a:r>
              <a:rPr/>
              <a:t>exploiter diversity</a:t>
            </a:r>
          </a:p>
          <a:p>
            <a:pPr lvl="0" indent="0" marL="0">
              <a:buNone/>
            </a:pPr>
            <a:r>
              <a:rPr b="1"/>
              <a:t>Takeaway</a:t>
            </a:r>
          </a:p>
          <a:p>
            <a:pPr lvl="0" indent="0" marL="0">
              <a:buNone/>
            </a:pPr>
            <a:r>
              <a:rPr/>
              <a:t>The method works, but the strength of the final result depends strongly on the diversity and cost of the training setup.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train on multiple maps and with fog of war</a:t>
            </a:r>
          </a:p>
          <a:p>
            <a:pPr lvl="0"/>
            <a:r>
              <a:rPr/>
              <a:t>improve the diversity and strength of initial agents</a:t>
            </a:r>
          </a:p>
          <a:p>
            <a:pPr lvl="0"/>
            <a:r>
              <a:rPr/>
              <a:t>reduce computational cost of MicroRTS training</a:t>
            </a:r>
          </a:p>
          <a:p>
            <a:pPr lvl="0"/>
            <a:r>
              <a:rPr/>
              <a:t>investigate stronger diversity mechanisms for exploiters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</a:t>
            </a:r>
          </a:p>
          <a:p>
            <a:pPr lvl="0" indent="0" marL="0">
              <a:buNone/>
            </a:pPr>
            <a:r>
              <a:rPr/>
              <a:t>LT with PPO improves the robustness and generalization of the MicroRTS Base Agent. Additional PPO fine-tuning improves the final agent even further.</a:t>
            </a:r>
          </a:p>
          <a:p>
            <a:pPr lvl="0" indent="0" marL="0">
              <a:buNone/>
            </a:pPr>
            <a:r>
              <a:rPr b="1"/>
              <a:t>Key takeaway</a:t>
            </a:r>
          </a:p>
          <a:p>
            <a:pPr lvl="0" indent="0" marL="0">
              <a:buNone/>
            </a:pPr>
            <a:r>
              <a:rPr/>
              <a:t>The effectiveness of LT depends strongly on exploiter diversity, which in turn depends on the diversity of the initial agents and BC experts.</a:t>
            </a:r>
          </a:p>
          <a:p>
            <a:pPr lvl="0"/>
            <a:r>
              <a:rPr/>
              <a:t>LT improves most matchups and the overall performance</a:t>
            </a:r>
          </a:p>
          <a:p>
            <a:pPr lvl="0"/>
            <a:r>
              <a:rPr/>
              <a:t>fine-tuning further improves the final agent</a:t>
            </a:r>
          </a:p>
          <a:p>
            <a:pPr lvl="0"/>
            <a:r>
              <a:rPr/>
              <a:t>diversity of initial agents is the critical practical factor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2026-04-09T15:10:44Z</dcterms:created>
  <dcterms:modified xsi:type="dcterms:W3CDTF">2026-04-09T15:10:44Z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