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Default Extension="png" ContentType="image/png"/>
  <Default Extension="mp4" ContentType="video/mp4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slide01-media1.png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video" Target="../media/slide04-media1.mp4" /><ns0:Relationship Id="rId3" Type="http://schemas.microsoft.com/office/2007/relationships/media" Target="../media/slide04-media1.mp4" /><ns0:Relationship Id="rId4" Type="http://schemas.openxmlformats.org/officeDocument/2006/relationships/image" Target="../media/slide04-media2.png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slide08-media1.png" /></ns0:Relationships>
</file>

<file path=ppt/slides/_rels/slide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slide09-media1.png" /></ns0:Relationships>
</file>

<file path=ppt/slides/_rels/slide1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slide10-media1.png" /></ns0:Relationships>
</file>

<file path=ppt/slides/_rels/slide1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1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slide12-media1.png" /></ns0:Relationships>
</file>

<file path=ppt/slides/_rels/slide1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slide13-media1.png" /></ns0:Relationships>
</file>

<file path=ppt/slides/_rels/slide1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1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1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1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video" Target="../media/slide17-media1.mp4" /><ns0:Relationship Id="rId3" Type="http://schemas.microsoft.com/office/2007/relationships/media" Target="../media/slide17-media1.mp4" /><ns0:Relationship Id="rId4" Type="http://schemas.openxmlformats.org/officeDocument/2006/relationships/image" Target="../media/slide17-media2.png" /></ns0:Relationships>
</file>

<file path=ppt/slides/_rels/slide1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video" Target="../media/slide18-media1.mp4" /><ns0:Relationship Id="rId3" Type="http://schemas.microsoft.com/office/2007/relationships/media" Target="../media/slide18-media1.mp4" /><ns0:Relationship Id="rId4" Type="http://schemas.openxmlformats.org/officeDocument/2006/relationships/image" Target="../media/slide18-media2.png" /></ns0:Relationships>
</file>

<file path=ppt/slides/_rels/slide1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2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2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2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_rels/slide2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/>
        </p:nvSpPr>
        <p:spPr>
          <a:xfrm>
            <a:off x="11750040" y="6510528"/>
            <a:ext cx="347472" cy="146304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lang="en-US" sz="850">
                <a:solidFill>
                  <a:srgbClr val="000000"/>
                </a:solidFill>
              </a:rPr>
              <a:t>1 / 23</a:t>
            </a:r>
            <a:endParaRPr lang="en-US" sz="850"/>
          </a:p>
        </p:txBody>
      </p:sp>
      <p:sp>
        <p:nvSpPr>
          <p:cNvPr id="3" name="Shadow 3"/>
          <p:cNvSpPr>
            <a:spLocks noGrp="1"/>
          </p:cNvSpPr>
          <p:nvPr/>
        </p:nvSpPr>
        <p:spPr>
          <a:xfrm>
            <a:off x="219456" y="749808"/>
            <a:ext cx="11795760" cy="1810512"/>
          </a:xfrm>
          <a:solidFill>
            <a:srgbClr val="B5B5B5"/>
          </a:solidFill>
          <a:ln w="12700">
            <a:noFill/>
          </a:ln>
          <a:prstGeom prst="roundRect">
            <a:avLst/>
          </a:prstGeom>
        </p:spPr>
      </p:sp>
      <p:sp>
        <p:nvSpPr>
          <p:cNvPr id="4" name="TitleBar 4"/>
          <p:cNvSpPr>
            <a:spLocks noGrp="1"/>
          </p:cNvSpPr>
          <p:nvPr/>
        </p:nvSpPr>
        <p:spPr>
          <a:xfrm>
            <a:off x="164592" y="694944"/>
            <a:ext cx="11795760" cy="1810512"/>
          </a:xfrm>
          <a:solidFill>
            <a:srgbClr val="003D7C"/>
          </a:solidFill>
          <a:ln w="12700">
            <a:noFill/>
          </a:ln>
          <a:prstGeom prst="roundRect">
            <a:avLst/>
          </a:prstGeom>
        </p:spPr>
      </p:sp>
      <p:sp>
        <p:nvSpPr>
          <p:cNvPr id="5" name="Text 5"/>
          <p:cNvSpPr>
            <a:spLocks noGrp="1"/>
          </p:cNvSpPr>
          <p:nvPr/>
        </p:nvSpPr>
        <p:spPr>
          <a:xfrm>
            <a:off x="685800" y="941832"/>
            <a:ext cx="10789920" cy="1005840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lang="en-US" sz="2300">
                <a:solidFill>
                  <a:srgbClr val="FFFFFF"/>
                </a:solidFill>
              </a:rPr>
              <a:t>Implementation and evaluation of the reinforcement learning methods</a:t>
            </a:r>
            <a:br/>
            <a:r>
              <a:rPr lang="en-US" sz="2300">
                <a:solidFill>
                  <a:srgbClr val="FFFFFF"/>
                </a:solidFill>
              </a:rPr>
              <a:t>Self-Play and League Training in the MicroRTS environment</a:t>
            </a:r>
            <a:endParaRPr lang="en-US" sz="2300"/>
          </a:p>
        </p:txBody>
      </p:sp>
      <p:sp>
        <p:nvSpPr>
          <p:cNvPr id="6" name="Text 6"/>
          <p:cNvSpPr>
            <a:spLocks noGrp="1"/>
          </p:cNvSpPr>
          <p:nvPr/>
        </p:nvSpPr>
        <p:spPr>
          <a:xfrm>
            <a:off x="3246120" y="1993392"/>
            <a:ext cx="5669280" cy="274320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lang="en-US" sz="1500">
                <a:solidFill>
                  <a:srgbClr val="FFFFFF"/>
                </a:solidFill>
              </a:rPr>
              <a:t>Presentation for the bachelor thesis</a:t>
            </a:r>
            <a:endParaRPr lang="en-US" sz="1500"/>
          </a:p>
        </p:txBody>
      </p:sp>
      <p:sp>
        <p:nvSpPr>
          <p:cNvPr id="7" name="Text 7"/>
          <p:cNvSpPr>
            <a:spLocks noGrp="1"/>
          </p:cNvSpPr>
          <p:nvPr/>
        </p:nvSpPr>
        <p:spPr>
          <a:xfrm>
            <a:off x="0" y="3154680"/>
            <a:ext cx="12191695" cy="29260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algn="ctr" marL="0" indent="0">
              <a:buNone/>
            </a:pPr>
            <a:r>
              <a:rPr lang="en-US" sz="1800">
                <a:solidFill>
                  <a:srgbClr val="000000"/>
                </a:solidFill>
              </a:rPr>
              <a:t>Niklas Glaser</a:t>
            </a:r>
            <a:endParaRPr lang="en-US" sz="1800"/>
          </a:p>
        </p:txBody>
      </p:sp>
      <p:sp>
        <p:nvSpPr>
          <p:cNvPr id="8" name="Text 8"/>
          <p:cNvSpPr>
            <a:spLocks noGrp="1"/>
          </p:cNvSpPr>
          <p:nvPr/>
        </p:nvSpPr>
        <p:spPr>
          <a:xfrm>
            <a:off x="0" y="3794760"/>
            <a:ext cx="12191695" cy="274320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algn="ctr" marL="0" indent="0">
              <a:buNone/>
            </a:pPr>
            <a:r>
              <a:rPr lang="en-US" sz="1400">
                <a:solidFill>
                  <a:srgbClr val="000000"/>
                </a:solidFill>
              </a:rPr>
              <a:t>Heinrich-Heine-Universitaet Duesseldorf</a:t>
            </a:r>
            <a:endParaRPr lang="en-US" sz="1400"/>
          </a:p>
        </p:txBody>
      </p:sp>
      <p:sp>
        <p:nvSpPr>
          <p:cNvPr id="9" name="Text 9"/>
          <p:cNvSpPr>
            <a:spLocks noGrp="1"/>
          </p:cNvSpPr>
          <p:nvPr/>
        </p:nvSpPr>
        <p:spPr>
          <a:xfrm>
            <a:off x="0" y="4389120"/>
            <a:ext cx="12191695" cy="329184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algn="ctr" marL="0" indent="0">
              <a:buNone/>
            </a:pPr>
            <a:r>
              <a:rPr lang="en-US" sz="2000">
                <a:solidFill>
                  <a:srgbClr val="000000"/>
                </a:solidFill>
              </a:rPr>
              <a:t>April 2026</a:t>
            </a:r>
            <a:endParaRPr lang="en-US" sz="2000"/>
          </a:p>
        </p:txBody>
      </p:sp>
      <p:pic>
        <p:nvPicPr>
          <p:cNvPr id="10" name="Logo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52" y="5297805"/>
            <a:ext cx="2057400" cy="514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/>
        </p:nvSpPr>
        <p:spPr>
          <a:xfrm>
            <a:off x="0" y="0"/>
            <a:ext cx="12191695" cy="512064"/>
          </a:xfrm>
          <a:solidFill>
            <a:srgbClr val="EBF2F9"/>
          </a:solidFill>
          <a:ln w="12700">
            <a:noFill/>
          </a:ln>
          <a:prstGeom prst="rect">
            <a:avLst/>
          </a:prstGeom>
        </p:spPr>
      </p:sp>
      <p:sp>
        <p:nvSpPr>
          <p:cNvPr id="3" name="Text 3"/>
          <p:cNvSpPr>
            <a:spLocks noGrp="1"/>
          </p:cNvSpPr>
          <p:nvPr/>
        </p:nvSpPr>
        <p:spPr>
          <a:xfrm>
            <a:off x="164592" y="54864"/>
            <a:ext cx="9784080" cy="310896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marL="0" indent="0">
              <a:buNone/>
            </a:pPr>
            <a:r>
              <a:rPr lang="en-US" sz="2300">
                <a:solidFill>
                  <a:srgbClr val="003D7C"/>
                </a:solidFill>
              </a:rPr>
              <a:t>Overview</a:t>
            </a:r>
            <a:endParaRPr lang="en-US" sz="2300"/>
          </a:p>
        </p:txBody>
      </p:sp>
      <p:sp>
        <p:nvSpPr>
          <p:cNvPr id="4" name="Text 4"/>
          <p:cNvSpPr>
            <a:spLocks noGrp="1"/>
          </p:cNvSpPr>
          <p:nvPr/>
        </p:nvSpPr>
        <p:spPr>
          <a:xfrm>
            <a:off x="11750040" y="6510528"/>
            <a:ext cx="347472" cy="146304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lang="en-US" sz="850">
                <a:solidFill>
                  <a:srgbClr val="000000"/>
                </a:solidFill>
              </a:rPr>
              <a:t>2 / 23</a:t>
            </a:r>
            <a:endParaRPr lang="en-US" sz="850"/>
          </a:p>
        </p:txBody>
      </p:sp>
      <p:sp>
        <p:nvSpPr>
          <p:cNvPr id="5" name="Circle 5"/>
          <p:cNvSpPr>
            <a:spLocks noGrp="1"/>
          </p:cNvSpPr>
          <p:nvPr/>
        </p:nvSpPr>
        <p:spPr>
          <a:xfrm>
            <a:off x="182880" y="1371600"/>
            <a:ext cx="274320" cy="274320"/>
          </a:xfrm>
          <a:solidFill>
            <a:srgbClr val="003D7C"/>
          </a:solidFill>
          <a:ln w="12700">
            <a:noFill/>
          </a:ln>
          <a:prstGeom prst="ellipse">
            <a:avLst/>
          </a:prstGeom>
        </p:spPr>
        <p:txBody>
          <a:bodyPr wrap="square" lIns="0" rIns="0" tIns="18288" bIns="0" anchor="ctr">
            <a:spAutoFit/>
          </a:bodyPr>
          <a:lstStyle/>
          <a:p>
            <a:pPr algn="ctr" marL="0" indent="0">
              <a:buNone/>
            </a:pPr>
            <a:r>
              <a:rPr lang="en-US" sz="1200">
                <a:solidFill>
                  <a:srgbClr val="FFFFFF"/>
                </a:solidFill>
              </a:rPr>
              <a:t>1</a:t>
            </a:r>
            <a:endParaRPr lang="en-US" sz="1200"/>
          </a:p>
        </p:txBody>
      </p:sp>
      <p:sp>
        <p:nvSpPr>
          <p:cNvPr id="6" name="Text 6"/>
          <p:cNvSpPr>
            <a:spLocks noGrp="1"/>
          </p:cNvSpPr>
          <p:nvPr/>
        </p:nvSpPr>
        <p:spPr>
          <a:xfrm>
            <a:off x="566928" y="1399032"/>
            <a:ext cx="3657600" cy="29260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800">
                <a:solidFill>
                  <a:srgbClr val="003D7C"/>
                </a:solidFill>
              </a:rPr>
              <a:t>Motivation</a:t>
            </a:r>
            <a:endParaRPr lang="en-US" sz="1800"/>
          </a:p>
        </p:txBody>
      </p:sp>
      <p:sp>
        <p:nvSpPr>
          <p:cNvPr id="7" name="Circle 7"/>
          <p:cNvSpPr>
            <a:spLocks noGrp="1"/>
          </p:cNvSpPr>
          <p:nvPr/>
        </p:nvSpPr>
        <p:spPr>
          <a:xfrm>
            <a:off x="182880" y="2112264"/>
            <a:ext cx="274320" cy="274320"/>
          </a:xfrm>
          <a:solidFill>
            <a:srgbClr val="003D7C"/>
          </a:solidFill>
          <a:ln w="12700">
            <a:noFill/>
          </a:ln>
          <a:prstGeom prst="ellipse">
            <a:avLst/>
          </a:prstGeom>
        </p:spPr>
        <p:txBody>
          <a:bodyPr wrap="square" lIns="0" rIns="0" tIns="18288" bIns="0" anchor="ctr">
            <a:spAutoFit/>
          </a:bodyPr>
          <a:lstStyle/>
          <a:p>
            <a:pPr algn="ctr" marL="0" indent="0">
              <a:buNone/>
            </a:pPr>
            <a:r>
              <a:rPr lang="en-US" sz="1200">
                <a:solidFill>
                  <a:srgbClr val="FFFFFF"/>
                </a:solidFill>
              </a:rPr>
              <a:t>2</a:t>
            </a:r>
            <a:endParaRPr lang="en-US" sz="1200"/>
          </a:p>
        </p:txBody>
      </p:sp>
      <p:sp>
        <p:nvSpPr>
          <p:cNvPr id="8" name="Text 8"/>
          <p:cNvSpPr>
            <a:spLocks noGrp="1"/>
          </p:cNvSpPr>
          <p:nvPr/>
        </p:nvSpPr>
        <p:spPr>
          <a:xfrm>
            <a:off x="566928" y="2139696"/>
            <a:ext cx="3657600" cy="29260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800">
                <a:solidFill>
                  <a:srgbClr val="003D7C"/>
                </a:solidFill>
              </a:rPr>
              <a:t>Approach</a:t>
            </a:r>
            <a:endParaRPr lang="en-US" sz="1800"/>
          </a:p>
        </p:txBody>
      </p:sp>
      <p:sp>
        <p:nvSpPr>
          <p:cNvPr id="9" name="Circle 9"/>
          <p:cNvSpPr>
            <a:spLocks noGrp="1"/>
          </p:cNvSpPr>
          <p:nvPr/>
        </p:nvSpPr>
        <p:spPr>
          <a:xfrm>
            <a:off x="182880" y="2852928"/>
            <a:ext cx="274320" cy="274320"/>
          </a:xfrm>
          <a:solidFill>
            <a:srgbClr val="003D7C"/>
          </a:solidFill>
          <a:ln w="12700">
            <a:noFill/>
          </a:ln>
          <a:prstGeom prst="ellipse">
            <a:avLst/>
          </a:prstGeom>
        </p:spPr>
        <p:txBody>
          <a:bodyPr wrap="square" lIns="0" rIns="0" tIns="18288" bIns="0" anchor="ctr">
            <a:spAutoFit/>
          </a:bodyPr>
          <a:lstStyle/>
          <a:p>
            <a:pPr algn="ctr" marL="0" indent="0">
              <a:buNone/>
            </a:pPr>
            <a:r>
              <a:rPr lang="en-US" sz="1200">
                <a:solidFill>
                  <a:srgbClr val="FFFFFF"/>
                </a:solidFill>
              </a:rPr>
              <a:t>3</a:t>
            </a:r>
            <a:endParaRPr lang="en-US" sz="1200"/>
          </a:p>
        </p:txBody>
      </p:sp>
      <p:sp>
        <p:nvSpPr>
          <p:cNvPr id="10" name="Text 10"/>
          <p:cNvSpPr>
            <a:spLocks noGrp="1"/>
          </p:cNvSpPr>
          <p:nvPr/>
        </p:nvSpPr>
        <p:spPr>
          <a:xfrm>
            <a:off x="566928" y="2880360"/>
            <a:ext cx="3657600" cy="29260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800">
                <a:solidFill>
                  <a:srgbClr val="003D7C"/>
                </a:solidFill>
              </a:rPr>
              <a:t>Experiments</a:t>
            </a:r>
            <a:endParaRPr lang="en-US" sz="1800"/>
          </a:p>
        </p:txBody>
      </p:sp>
      <p:sp>
        <p:nvSpPr>
          <p:cNvPr id="11" name="Circle 11"/>
          <p:cNvSpPr>
            <a:spLocks noGrp="1"/>
          </p:cNvSpPr>
          <p:nvPr/>
        </p:nvSpPr>
        <p:spPr>
          <a:xfrm>
            <a:off x="182880" y="3593592"/>
            <a:ext cx="274320" cy="274320"/>
          </a:xfrm>
          <a:solidFill>
            <a:srgbClr val="003D7C"/>
          </a:solidFill>
          <a:ln w="12700">
            <a:noFill/>
          </a:ln>
          <a:prstGeom prst="ellipse">
            <a:avLst/>
          </a:prstGeom>
        </p:spPr>
        <p:txBody>
          <a:bodyPr wrap="square" lIns="0" rIns="0" tIns="18288" bIns="0" anchor="ctr">
            <a:spAutoFit/>
          </a:bodyPr>
          <a:lstStyle/>
          <a:p>
            <a:pPr algn="ctr" marL="0" indent="0">
              <a:buNone/>
            </a:pPr>
            <a:r>
              <a:rPr lang="en-US" sz="1200">
                <a:solidFill>
                  <a:srgbClr val="FFFFFF"/>
                </a:solidFill>
              </a:rPr>
              <a:t>4</a:t>
            </a:r>
            <a:endParaRPr lang="en-US" sz="1200"/>
          </a:p>
        </p:txBody>
      </p:sp>
      <p:sp>
        <p:nvSpPr>
          <p:cNvPr id="12" name="Text 12"/>
          <p:cNvSpPr>
            <a:spLocks noGrp="1"/>
          </p:cNvSpPr>
          <p:nvPr/>
        </p:nvSpPr>
        <p:spPr>
          <a:xfrm>
            <a:off x="566928" y="3621024"/>
            <a:ext cx="3657600" cy="29260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800">
                <a:solidFill>
                  <a:srgbClr val="003D7C"/>
                </a:solidFill>
              </a:rPr>
              <a:t>Results</a:t>
            </a:r>
            <a:endParaRPr lang="en-US" sz="1800"/>
          </a:p>
        </p:txBody>
      </p:sp>
      <p:sp>
        <p:nvSpPr>
          <p:cNvPr id="13" name="Circle 13"/>
          <p:cNvSpPr>
            <a:spLocks noGrp="1"/>
          </p:cNvSpPr>
          <p:nvPr/>
        </p:nvSpPr>
        <p:spPr>
          <a:xfrm>
            <a:off x="182880" y="4334256"/>
            <a:ext cx="274320" cy="274320"/>
          </a:xfrm>
          <a:solidFill>
            <a:srgbClr val="003D7C"/>
          </a:solidFill>
          <a:ln w="12700">
            <a:noFill/>
          </a:ln>
          <a:prstGeom prst="ellipse">
            <a:avLst/>
          </a:prstGeom>
        </p:spPr>
        <p:txBody>
          <a:bodyPr wrap="square" lIns="0" rIns="0" tIns="18288" bIns="0" anchor="ctr">
            <a:spAutoFit/>
          </a:bodyPr>
          <a:lstStyle/>
          <a:p>
            <a:pPr algn="ctr" marL="0" indent="0">
              <a:buNone/>
            </a:pPr>
            <a:r>
              <a:rPr lang="en-US" sz="1200">
                <a:solidFill>
                  <a:srgbClr val="FFFFFF"/>
                </a:solidFill>
              </a:rPr>
              <a:t>5</a:t>
            </a:r>
            <a:endParaRPr lang="en-US" sz="1200"/>
          </a:p>
        </p:txBody>
      </p:sp>
      <p:sp>
        <p:nvSpPr>
          <p:cNvPr id="14" name="Text 14"/>
          <p:cNvSpPr>
            <a:spLocks noGrp="1"/>
          </p:cNvSpPr>
          <p:nvPr/>
        </p:nvSpPr>
        <p:spPr>
          <a:xfrm>
            <a:off x="566928" y="4361688"/>
            <a:ext cx="3657600" cy="29260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800">
                <a:solidFill>
                  <a:srgbClr val="003D7C"/>
                </a:solidFill>
              </a:rPr>
              <a:t>Discussion</a:t>
            </a:r>
            <a:endParaRPr lang="en-US" sz="1800"/>
          </a:p>
        </p:txBody>
      </p:sp>
      <p:sp>
        <p:nvSpPr>
          <p:cNvPr id="15" name="Circle 15"/>
          <p:cNvSpPr>
            <a:spLocks noGrp="1"/>
          </p:cNvSpPr>
          <p:nvPr/>
        </p:nvSpPr>
        <p:spPr>
          <a:xfrm>
            <a:off x="182880" y="5074920"/>
            <a:ext cx="274320" cy="274320"/>
          </a:xfrm>
          <a:solidFill>
            <a:srgbClr val="003D7C"/>
          </a:solidFill>
          <a:ln w="12700">
            <a:noFill/>
          </a:ln>
          <a:prstGeom prst="ellipse">
            <a:avLst/>
          </a:prstGeom>
        </p:spPr>
        <p:txBody>
          <a:bodyPr wrap="square" lIns="0" rIns="0" tIns="18288" bIns="0" anchor="ctr">
            <a:spAutoFit/>
          </a:bodyPr>
          <a:lstStyle/>
          <a:p>
            <a:pPr algn="ctr" marL="0" indent="0">
              <a:buNone/>
            </a:pPr>
            <a:r>
              <a:rPr lang="en-US" sz="1200">
                <a:solidFill>
                  <a:srgbClr val="FFFFFF"/>
                </a:solidFill>
              </a:rPr>
              <a:t>6</a:t>
            </a:r>
            <a:endParaRPr lang="en-US" sz="1200"/>
          </a:p>
        </p:txBody>
      </p:sp>
      <p:sp>
        <p:nvSpPr>
          <p:cNvPr id="16" name="Text 16"/>
          <p:cNvSpPr>
            <a:spLocks noGrp="1"/>
          </p:cNvSpPr>
          <p:nvPr/>
        </p:nvSpPr>
        <p:spPr>
          <a:xfrm>
            <a:off x="566928" y="5102352"/>
            <a:ext cx="3657600" cy="29260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800">
                <a:solidFill>
                  <a:srgbClr val="003D7C"/>
                </a:solidFill>
              </a:rPr>
              <a:t>Conclusion</a:t>
            </a:r>
            <a:endParaRPr 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/>
        </p:nvSpPr>
        <p:spPr>
          <a:xfrm>
            <a:off x="0" y="0"/>
            <a:ext cx="12191695" cy="512064"/>
          </a:xfrm>
          <a:solidFill>
            <a:srgbClr val="EBF2F9"/>
          </a:solidFill>
          <a:ln w="12700">
            <a:noFill/>
          </a:ln>
          <a:prstGeom prst="rect">
            <a:avLst/>
          </a:prstGeom>
        </p:spPr>
      </p:sp>
      <p:sp>
        <p:nvSpPr>
          <p:cNvPr id="3" name="Text 3"/>
          <p:cNvSpPr>
            <a:spLocks noGrp="1"/>
          </p:cNvSpPr>
          <p:nvPr/>
        </p:nvSpPr>
        <p:spPr>
          <a:xfrm>
            <a:off x="164592" y="54864"/>
            <a:ext cx="9784080" cy="310896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marL="0" indent="0">
              <a:buNone/>
            </a:pPr>
            <a:r>
              <a:rPr lang="en-US" sz="2300">
                <a:solidFill>
                  <a:srgbClr val="003D7C"/>
                </a:solidFill>
              </a:rPr>
              <a:t>Goals and Research Question</a:t>
            </a:r>
            <a:endParaRPr lang="en-US" sz="2300"/>
          </a:p>
        </p:txBody>
      </p:sp>
      <p:sp>
        <p:nvSpPr>
          <p:cNvPr id="4" name="Text 4"/>
          <p:cNvSpPr>
            <a:spLocks noGrp="1"/>
          </p:cNvSpPr>
          <p:nvPr/>
        </p:nvSpPr>
        <p:spPr>
          <a:xfrm>
            <a:off x="11750040" y="6510528"/>
            <a:ext cx="347472" cy="146304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lang="en-US" sz="850">
                <a:solidFill>
                  <a:srgbClr val="000000"/>
                </a:solidFill>
              </a:rPr>
              <a:t>3 / 23</a:t>
            </a:r>
            <a:endParaRPr lang="en-US" sz="850"/>
          </a:p>
        </p:txBody>
      </p:sp>
      <p:sp>
        <p:nvSpPr>
          <p:cNvPr id="5" name="Shadow 5"/>
          <p:cNvSpPr>
            <a:spLocks noGrp="1"/>
          </p:cNvSpPr>
          <p:nvPr/>
        </p:nvSpPr>
        <p:spPr>
          <a:xfrm>
            <a:off x="228600" y="987552"/>
            <a:ext cx="11887200" cy="1280160"/>
          </a:xfrm>
          <a:solidFill>
            <a:srgbClr val="B5B5B5"/>
          </a:solidFill>
          <a:ln w="12700">
            <a:noFill/>
          </a:ln>
          <a:prstGeom prst="roundRect">
            <a:avLst/>
          </a:prstGeom>
        </p:spPr>
      </p:sp>
      <p:sp>
        <p:nvSpPr>
          <p:cNvPr id="6" name="Block 6"/>
          <p:cNvSpPr>
            <a:spLocks noGrp="1"/>
          </p:cNvSpPr>
          <p:nvPr/>
        </p:nvSpPr>
        <p:spPr>
          <a:xfrm>
            <a:off x="164592" y="914400"/>
            <a:ext cx="11887200" cy="1280160"/>
          </a:xfrm>
          <a:solidFill>
            <a:srgbClr val="EBF2F9"/>
          </a:solidFill>
          <a:ln w="12700">
            <a:noFill/>
          </a:ln>
          <a:prstGeom prst="roundRect">
            <a:avLst/>
          </a:prstGeom>
        </p:spPr>
      </p:sp>
      <p:sp>
        <p:nvSpPr>
          <p:cNvPr id="7" name="BlockTitle 7"/>
          <p:cNvSpPr>
            <a:spLocks noGrp="1"/>
          </p:cNvSpPr>
          <p:nvPr/>
        </p:nvSpPr>
        <p:spPr>
          <a:xfrm>
            <a:off x="164592" y="914400"/>
            <a:ext cx="11887200" cy="384048"/>
          </a:xfrm>
          <a:solidFill>
            <a:srgbClr val="003D7C"/>
          </a:solidFill>
          <a:ln w="12700">
            <a:noFill/>
          </a:ln>
          <a:prstGeom prst="roundRect">
            <a:avLst/>
          </a:prstGeom>
        </p:spPr>
        <p:txBody>
          <a:bodyPr wrap="square" lIns="109728" rIns="91440" tIns="54864" bIns="18288" anchor="ctr">
            <a:sp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Base Agent</a:t>
            </a:r>
            <a:endParaRPr lang="en-US" sz="1700"/>
          </a:p>
        </p:txBody>
      </p:sp>
      <p:sp>
        <p:nvSpPr>
          <p:cNvPr id="8" name="Text 8"/>
          <p:cNvSpPr>
            <a:spLocks noGrp="1"/>
          </p:cNvSpPr>
          <p:nvPr/>
        </p:nvSpPr>
        <p:spPr>
          <a:xfrm>
            <a:off x="274320" y="1371600"/>
            <a:ext cx="11667744" cy="786384"/>
          </a:xfrm>
          <a:noFill/>
          <a:ln w="12700">
            <a:noFill/>
          </a:ln>
          <a:prstGeom prst="rect">
            <a:avLst/>
          </a:prstGeom>
        </p:spPr>
        <p:txBody>
          <a:bodyPr wrap="square" lIns="18288" rIns="18288" tIns="0" bIns="0" anchor="t">
            <a:spAutoFit/>
          </a:bodyPr>
          <a:lstStyle/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</a:rPr>
              <a:t>combination of Behavioral Cloning (BC) and Proximal Policy Optimization (PPO)</a:t>
            </a:r>
            <a:endParaRPr lang="en-US" sz="165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</a:rPr>
              <a:t>strong baseline, but weaknesses against several opponents</a:t>
            </a:r>
            <a:endParaRPr lang="en-US" sz="1650"/>
          </a:p>
        </p:txBody>
      </p:sp>
      <p:sp>
        <p:nvSpPr>
          <p:cNvPr id="9" name="Shadow 9"/>
          <p:cNvSpPr>
            <a:spLocks noGrp="1"/>
          </p:cNvSpPr>
          <p:nvPr/>
        </p:nvSpPr>
        <p:spPr>
          <a:xfrm>
            <a:off x="228600" y="2560320"/>
            <a:ext cx="11887200" cy="1664208"/>
          </a:xfrm>
          <a:solidFill>
            <a:srgbClr val="B5B5B5"/>
          </a:solidFill>
          <a:ln w="12700">
            <a:noFill/>
          </a:ln>
          <a:prstGeom prst="roundRect">
            <a:avLst/>
          </a:prstGeom>
        </p:spPr>
      </p:sp>
      <p:sp>
        <p:nvSpPr>
          <p:cNvPr id="10" name="Block 10"/>
          <p:cNvSpPr>
            <a:spLocks noGrp="1"/>
          </p:cNvSpPr>
          <p:nvPr/>
        </p:nvSpPr>
        <p:spPr>
          <a:xfrm>
            <a:off x="164592" y="2487168"/>
            <a:ext cx="11887200" cy="1664208"/>
          </a:xfrm>
          <a:solidFill>
            <a:srgbClr val="EBF2F9"/>
          </a:solidFill>
          <a:ln w="12700">
            <a:noFill/>
          </a:ln>
          <a:prstGeom prst="roundRect">
            <a:avLst/>
          </a:prstGeom>
        </p:spPr>
      </p:sp>
      <p:sp>
        <p:nvSpPr>
          <p:cNvPr id="11" name="BlockTitle 11"/>
          <p:cNvSpPr>
            <a:spLocks noGrp="1"/>
          </p:cNvSpPr>
          <p:nvPr/>
        </p:nvSpPr>
        <p:spPr>
          <a:xfrm>
            <a:off x="164592" y="2487168"/>
            <a:ext cx="11887200" cy="384048"/>
          </a:xfrm>
          <a:solidFill>
            <a:srgbClr val="003D7C"/>
          </a:solidFill>
          <a:ln w="12700">
            <a:noFill/>
          </a:ln>
          <a:prstGeom prst="roundRect">
            <a:avLst/>
          </a:prstGeom>
        </p:spPr>
        <p:txBody>
          <a:bodyPr wrap="square" lIns="109728" rIns="91440" tIns="54864" bIns="18288" anchor="ctr">
            <a:sp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Goal</a:t>
            </a:r>
            <a:endParaRPr lang="en-US" sz="1700"/>
          </a:p>
        </p:txBody>
      </p:sp>
      <p:sp>
        <p:nvSpPr>
          <p:cNvPr id="12" name="Text 12"/>
          <p:cNvSpPr>
            <a:spLocks noGrp="1"/>
          </p:cNvSpPr>
          <p:nvPr/>
        </p:nvSpPr>
        <p:spPr>
          <a:xfrm>
            <a:off x="274320" y="2944368"/>
            <a:ext cx="11667744" cy="1170432"/>
          </a:xfrm>
          <a:noFill/>
          <a:ln w="12700">
            <a:noFill/>
          </a:ln>
          <a:prstGeom prst="rect">
            <a:avLst/>
          </a:prstGeom>
        </p:spPr>
        <p:txBody>
          <a:bodyPr wrap="square" lIns="18288" rIns="18288" tIns="0" bIns="0" anchor="t">
            <a:spAutoFit/>
          </a:bodyPr>
          <a:lstStyle/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</a:rPr>
              <a:t>improve the Base Agent with League Training (LT)</a:t>
            </a:r>
            <a:endParaRPr lang="en-US" sz="165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</a:rPr>
              <a:t>training against a more diverse set of opponents</a:t>
            </a:r>
            <a:endParaRPr lang="en-US" sz="165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</a:rPr>
              <a:t>focus on robustness and generalization</a:t>
            </a:r>
            <a:endParaRPr lang="en-US" sz="1650"/>
          </a:p>
        </p:txBody>
      </p:sp>
      <p:sp>
        <p:nvSpPr>
          <p:cNvPr id="13" name="Shadow 13"/>
          <p:cNvSpPr>
            <a:spLocks noGrp="1"/>
          </p:cNvSpPr>
          <p:nvPr/>
        </p:nvSpPr>
        <p:spPr>
          <a:xfrm>
            <a:off x="228600" y="4553712"/>
            <a:ext cx="11887200" cy="1234440"/>
          </a:xfrm>
          <a:solidFill>
            <a:srgbClr val="B5B5B5"/>
          </a:solidFill>
          <a:ln w="12700">
            <a:noFill/>
          </a:ln>
          <a:prstGeom prst="roundRect">
            <a:avLst/>
          </a:prstGeom>
        </p:spPr>
      </p:sp>
      <p:sp>
        <p:nvSpPr>
          <p:cNvPr id="14" name="Block 14"/>
          <p:cNvSpPr>
            <a:spLocks noGrp="1"/>
          </p:cNvSpPr>
          <p:nvPr/>
        </p:nvSpPr>
        <p:spPr>
          <a:xfrm>
            <a:off x="164592" y="4480560"/>
            <a:ext cx="11887200" cy="1234440"/>
          </a:xfrm>
          <a:solidFill>
            <a:srgbClr val="F7E2E2"/>
          </a:solidFill>
          <a:ln w="12700">
            <a:noFill/>
          </a:ln>
          <a:prstGeom prst="roundRect">
            <a:avLst/>
          </a:prstGeom>
        </p:spPr>
      </p:sp>
      <p:sp>
        <p:nvSpPr>
          <p:cNvPr id="15" name="BlockTitle 15"/>
          <p:cNvSpPr>
            <a:spLocks noGrp="1"/>
          </p:cNvSpPr>
          <p:nvPr/>
        </p:nvSpPr>
        <p:spPr>
          <a:xfrm>
            <a:off x="164592" y="4480560"/>
            <a:ext cx="11887200" cy="384048"/>
          </a:xfrm>
          <a:solidFill>
            <a:srgbClr val="D10000"/>
          </a:solidFill>
          <a:ln w="12700">
            <a:noFill/>
          </a:ln>
          <a:prstGeom prst="roundRect">
            <a:avLst/>
          </a:prstGeom>
        </p:spPr>
        <p:txBody>
          <a:bodyPr wrap="square" lIns="109728" rIns="91440" tIns="54864" bIns="18288" anchor="ctr">
            <a:sp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Research Question</a:t>
            </a:r>
            <a:endParaRPr lang="en-US" sz="1700"/>
          </a:p>
        </p:txBody>
      </p:sp>
      <p:sp>
        <p:nvSpPr>
          <p:cNvPr id="16" name="Text 16"/>
          <p:cNvSpPr>
            <a:spLocks noGrp="1"/>
          </p:cNvSpPr>
          <p:nvPr/>
        </p:nvSpPr>
        <p:spPr>
          <a:xfrm>
            <a:off x="274320" y="4937760"/>
            <a:ext cx="11667744" cy="740664"/>
          </a:xfrm>
          <a:noFill/>
          <a:ln w="12700">
            <a:noFill/>
          </a:ln>
          <a:prstGeom prst="rect">
            <a:avLst/>
          </a:prstGeom>
        </p:spPr>
        <p:txBody>
          <a:bodyPr wrap="square" lIns="18288" rIns="18288" tIns="0" bIns="0" anchor="t">
            <a:spAutoFit/>
          </a:bodyPr>
          <a:lstStyle/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580">
                <a:solidFill>
                  <a:srgbClr val="000000"/>
                </a:solidFill>
              </a:rPr>
              <a:t>How much does LT with PPO improve robustness and generalization of the BC/PPO-pretrained agent?</a:t>
            </a:r>
            <a:endParaRPr lang="en-US" sz="158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580">
                <a:solidFill>
                  <a:srgbClr val="000000"/>
                </a:solidFill>
              </a:rPr>
              <a:t>How strongly does this depend on the diversity of initial agents and BC experts?</a:t>
            </a:r>
            <a:endParaRPr lang="en-US" sz="158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/>
        </p:nvSpPr>
        <p:spPr>
          <a:xfrm>
            <a:off x="0" y="0"/>
            <a:ext cx="12191695" cy="512064"/>
          </a:xfrm>
          <a:solidFill>
            <a:srgbClr val="EBF2F9"/>
          </a:solidFill>
          <a:ln w="12700">
            <a:noFill/>
          </a:ln>
          <a:prstGeom prst="rect">
            <a:avLst/>
          </a:prstGeom>
        </p:spPr>
      </p:sp>
      <p:sp>
        <p:nvSpPr>
          <p:cNvPr id="3" name="Text 3"/>
          <p:cNvSpPr>
            <a:spLocks noGrp="1"/>
          </p:cNvSpPr>
          <p:nvPr/>
        </p:nvSpPr>
        <p:spPr>
          <a:xfrm>
            <a:off x="164592" y="54864"/>
            <a:ext cx="9784080" cy="310896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marL="0" indent="0">
              <a:buNone/>
            </a:pPr>
            <a:r>
              <a:rPr lang="en-US" sz="2300">
                <a:solidFill>
                  <a:srgbClr val="003D7C"/>
                </a:solidFill>
              </a:rPr>
              <a:t>Setting</a:t>
            </a:r>
            <a:endParaRPr lang="en-US" sz="2300"/>
          </a:p>
        </p:txBody>
      </p:sp>
      <p:sp>
        <p:nvSpPr>
          <p:cNvPr id="4" name="Text 4"/>
          <p:cNvSpPr>
            <a:spLocks noGrp="1"/>
          </p:cNvSpPr>
          <p:nvPr/>
        </p:nvSpPr>
        <p:spPr>
          <a:xfrm>
            <a:off x="11750040" y="6510528"/>
            <a:ext cx="347472" cy="146304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lang="en-US" sz="850">
                <a:solidFill>
                  <a:srgbClr val="000000"/>
                </a:solidFill>
              </a:rPr>
              <a:t>4 / 23</a:t>
            </a:r>
            <a:endParaRPr lang="en-US" sz="850"/>
          </a:p>
        </p:txBody>
      </p:sp>
      <p:sp>
        <p:nvSpPr>
          <p:cNvPr id="5" name="Shadow 5"/>
          <p:cNvSpPr>
            <a:spLocks noGrp="1"/>
          </p:cNvSpPr>
          <p:nvPr/>
        </p:nvSpPr>
        <p:spPr>
          <a:xfrm>
            <a:off x="228600" y="1124712"/>
            <a:ext cx="6309360" cy="1901952"/>
          </a:xfrm>
          <a:solidFill>
            <a:srgbClr val="B5B5B5"/>
          </a:solidFill>
          <a:ln w="12700">
            <a:noFill/>
          </a:ln>
          <a:prstGeom prst="roundRect">
            <a:avLst/>
          </a:prstGeom>
        </p:spPr>
      </p:sp>
      <p:sp>
        <p:nvSpPr>
          <p:cNvPr id="6" name="Block 6"/>
          <p:cNvSpPr>
            <a:spLocks noGrp="1"/>
          </p:cNvSpPr>
          <p:nvPr/>
        </p:nvSpPr>
        <p:spPr>
          <a:xfrm>
            <a:off x="164592" y="1051560"/>
            <a:ext cx="6309360" cy="1901952"/>
          </a:xfrm>
          <a:solidFill>
            <a:srgbClr val="EBF2F9"/>
          </a:solidFill>
          <a:ln w="12700">
            <a:noFill/>
          </a:ln>
          <a:prstGeom prst="roundRect">
            <a:avLst/>
          </a:prstGeom>
        </p:spPr>
      </p:sp>
      <p:sp>
        <p:nvSpPr>
          <p:cNvPr id="7" name="BlockTitle 7"/>
          <p:cNvSpPr>
            <a:spLocks noGrp="1"/>
          </p:cNvSpPr>
          <p:nvPr/>
        </p:nvSpPr>
        <p:spPr>
          <a:xfrm>
            <a:off x="164592" y="1051560"/>
            <a:ext cx="6309360" cy="384048"/>
          </a:xfrm>
          <a:solidFill>
            <a:srgbClr val="003D7C"/>
          </a:solidFill>
          <a:ln w="12700">
            <a:noFill/>
          </a:ln>
          <a:prstGeom prst="roundRect">
            <a:avLst/>
          </a:prstGeom>
        </p:spPr>
        <p:txBody>
          <a:bodyPr wrap="square" lIns="109728" rIns="91440" tIns="54864" bIns="18288" anchor="ctr">
            <a:sp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MicroRTS</a:t>
            </a:r>
            <a:endParaRPr lang="en-US" sz="1700"/>
          </a:p>
        </p:txBody>
      </p:sp>
      <p:sp>
        <p:nvSpPr>
          <p:cNvPr id="8" name="Text 8"/>
          <p:cNvSpPr>
            <a:spLocks noGrp="1"/>
          </p:cNvSpPr>
          <p:nvPr/>
        </p:nvSpPr>
        <p:spPr>
          <a:xfrm>
            <a:off x="274320" y="1508760"/>
            <a:ext cx="6089904" cy="1408176"/>
          </a:xfrm>
          <a:noFill/>
          <a:ln w="12700">
            <a:noFill/>
          </a:ln>
          <a:prstGeom prst="rect">
            <a:avLst/>
          </a:prstGeom>
        </p:spPr>
        <p:txBody>
          <a:bodyPr wrap="square" lIns="18288" rIns="18288" tIns="0" bIns="0" anchor="t">
            <a:spAutoFit/>
          </a:bodyPr>
          <a:lstStyle/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</a:rPr>
              <a:t>simplified RTS environment for RL research</a:t>
            </a:r>
            <a:endParaRPr lang="en-US" sz="165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</a:rPr>
              <a:t>still contains resource management, unit production</a:t>
            </a:r>
            <a:br/>
            <a:r>
              <a:rPr lang="en-US" sz="1650">
                <a:solidFill>
                  <a:srgbClr val="000000"/>
                </a:solidFill>
              </a:rPr>
              <a:t>and combat</a:t>
            </a:r>
            <a:endParaRPr lang="en-US" sz="165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</a:rPr>
              <a:t>supports controlled and repeatable experiments</a:t>
            </a:r>
            <a:endParaRPr lang="en-US" sz="1650"/>
          </a:p>
        </p:txBody>
      </p:sp>
      <p:sp>
        <p:nvSpPr>
          <p:cNvPr id="9" name="Shadow 9"/>
          <p:cNvSpPr>
            <a:spLocks noGrp="1"/>
          </p:cNvSpPr>
          <p:nvPr/>
        </p:nvSpPr>
        <p:spPr>
          <a:xfrm>
            <a:off x="228600" y="3392424"/>
            <a:ext cx="6309360" cy="2029968"/>
          </a:xfrm>
          <a:solidFill>
            <a:srgbClr val="B5B5B5"/>
          </a:solidFill>
          <a:ln w="12700">
            <a:noFill/>
          </a:ln>
          <a:prstGeom prst="roundRect">
            <a:avLst/>
          </a:prstGeom>
        </p:spPr>
      </p:sp>
      <p:sp>
        <p:nvSpPr>
          <p:cNvPr id="10" name="Block 10"/>
          <p:cNvSpPr>
            <a:spLocks noGrp="1"/>
          </p:cNvSpPr>
          <p:nvPr/>
        </p:nvSpPr>
        <p:spPr>
          <a:xfrm>
            <a:off x="164592" y="3319272"/>
            <a:ext cx="6309360" cy="2029968"/>
          </a:xfrm>
          <a:solidFill>
            <a:srgbClr val="EBF2F9"/>
          </a:solidFill>
          <a:ln w="12700">
            <a:noFill/>
          </a:ln>
          <a:prstGeom prst="roundRect">
            <a:avLst/>
          </a:prstGeom>
        </p:spPr>
      </p:sp>
      <p:sp>
        <p:nvSpPr>
          <p:cNvPr id="11" name="BlockTitle 11"/>
          <p:cNvSpPr>
            <a:spLocks noGrp="1"/>
          </p:cNvSpPr>
          <p:nvPr/>
        </p:nvSpPr>
        <p:spPr>
          <a:xfrm>
            <a:off x="164592" y="3319272"/>
            <a:ext cx="6309360" cy="384048"/>
          </a:xfrm>
          <a:solidFill>
            <a:srgbClr val="003D7C"/>
          </a:solidFill>
          <a:ln w="12700">
            <a:noFill/>
          </a:ln>
          <a:prstGeom prst="roundRect">
            <a:avLst/>
          </a:prstGeom>
        </p:spPr>
        <p:txBody>
          <a:bodyPr wrap="square" lIns="109728" rIns="91440" tIns="54864" bIns="18288" anchor="ctr">
            <a:sp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Main RL challenges</a:t>
            </a:r>
            <a:endParaRPr lang="en-US" sz="1700"/>
          </a:p>
        </p:txBody>
      </p:sp>
      <p:sp>
        <p:nvSpPr>
          <p:cNvPr id="12" name="Text 12"/>
          <p:cNvSpPr>
            <a:spLocks noGrp="1"/>
          </p:cNvSpPr>
          <p:nvPr/>
        </p:nvSpPr>
        <p:spPr>
          <a:xfrm>
            <a:off x="274320" y="3776472"/>
            <a:ext cx="6089904" cy="1536192"/>
          </a:xfrm>
          <a:noFill/>
          <a:ln w="12700">
            <a:noFill/>
          </a:ln>
          <a:prstGeom prst="rect">
            <a:avLst/>
          </a:prstGeom>
        </p:spPr>
        <p:txBody>
          <a:bodyPr wrap="square" lIns="18288" rIns="18288" tIns="0" bIns="0" anchor="t">
            <a:spAutoFit/>
          </a:bodyPr>
          <a:lstStyle/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</a:rPr>
              <a:t>large combinatorial action space</a:t>
            </a:r>
            <a:endParaRPr lang="en-US" sz="165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</a:rPr>
              <a:t>simultaneous decisions</a:t>
            </a:r>
            <a:endParaRPr lang="en-US" sz="165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</a:rPr>
              <a:t>delayed and sparse rewards</a:t>
            </a:r>
            <a:endParaRPr lang="en-US" sz="165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</a:rPr>
              <a:t>robustness against diverse opponents</a:t>
            </a:r>
            <a:endParaRPr lang="en-US" sz="1650"/>
          </a:p>
        </p:txBody>
      </p:sp>
      <p:pic>
        <p:nvPicPr>
          <p:cNvPr id="13" name="Video 1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624776" y="1103439"/>
            <a:ext cx="4984214" cy="4973729"/>
          </a:xfrm>
          <a:prstGeom prst="rect">
            <a:avLst/>
          </a:prstGeom>
        </p:spPr>
      </p:pic>
      <p:sp>
        <p:nvSpPr>
          <p:cNvPr id="14" name="Text 14"/>
          <p:cNvSpPr>
            <a:spLocks noGrp="1"/>
          </p:cNvSpPr>
          <p:nvPr/>
        </p:nvSpPr>
        <p:spPr>
          <a:xfrm>
            <a:off x="6624776" y="6150320"/>
            <a:ext cx="4984214" cy="548640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marL="0" indent="0">
              <a:buNone/>
            </a:pPr>
            <a:r>
              <a:rPr lang="en-US" sz="1100">
                <a:solidFill>
                  <a:srgbClr val="000000"/>
                </a:solidFill>
              </a:rPr>
              <a:t>Click the play area to start the embedded</a:t>
            </a:r>
            <a:br/>
            <a:r>
              <a:rPr lang="en-US" sz="1100">
                <a:solidFill>
                  <a:srgbClr val="000000"/>
                </a:solidFill>
              </a:rPr>
              <a:t>MicroRTS example video.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/>
        </p:nvSpPr>
        <p:spPr>
          <a:xfrm>
            <a:off x="0" y="0"/>
            <a:ext cx="12191695" cy="512064"/>
          </a:xfrm>
          <a:solidFill>
            <a:srgbClr val="EBF2F9"/>
          </a:solidFill>
          <a:ln w="12700">
            <a:noFill/>
          </a:ln>
          <a:prstGeom prst="rect">
            <a:avLst/>
          </a:prstGeom>
        </p:spPr>
      </p:sp>
      <p:sp>
        <p:nvSpPr>
          <p:cNvPr id="3" name="Text 3"/>
          <p:cNvSpPr>
            <a:spLocks noGrp="1"/>
          </p:cNvSpPr>
          <p:nvPr/>
        </p:nvSpPr>
        <p:spPr>
          <a:xfrm>
            <a:off x="164592" y="54864"/>
            <a:ext cx="9784080" cy="310896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marL="0" indent="0">
              <a:buNone/>
            </a:pPr>
            <a:r>
              <a:rPr lang="en-US" sz="2300">
                <a:solidFill>
                  <a:srgbClr val="003D7C"/>
                </a:solidFill>
              </a:rPr>
              <a:t>Training Pipeline</a:t>
            </a:r>
            <a:endParaRPr lang="en-US" sz="2300"/>
          </a:p>
        </p:txBody>
      </p:sp>
      <p:sp>
        <p:nvSpPr>
          <p:cNvPr id="4" name="Text 4"/>
          <p:cNvSpPr>
            <a:spLocks noGrp="1"/>
          </p:cNvSpPr>
          <p:nvPr/>
        </p:nvSpPr>
        <p:spPr>
          <a:xfrm>
            <a:off x="11750040" y="6510528"/>
            <a:ext cx="347472" cy="146304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lang="en-US" sz="850">
                <a:solidFill>
                  <a:srgbClr val="000000"/>
                </a:solidFill>
              </a:rPr>
              <a:t>5 / 23</a:t>
            </a:r>
            <a:endParaRPr lang="en-US" sz="850"/>
          </a:p>
        </p:txBody>
      </p:sp>
      <p:sp>
        <p:nvSpPr>
          <p:cNvPr id="5" name="Text 5"/>
          <p:cNvSpPr>
            <a:spLocks noGrp="1"/>
          </p:cNvSpPr>
          <p:nvPr/>
        </p:nvSpPr>
        <p:spPr>
          <a:xfrm>
            <a:off x="1234440" y="1234440"/>
            <a:ext cx="9738360" cy="548640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lang="en-US" sz="2300">
                <a:solidFill>
                  <a:srgbClr val="000000"/>
                </a:solidFill>
              </a:rPr>
              <a:t>BC -&gt; BC-FT -&gt; PPO -&gt; LT -&gt; PPO fine-tuning</a:t>
            </a:r>
            <a:endParaRPr lang="en-US" sz="2300"/>
          </a:p>
        </p:txBody>
      </p:sp>
      <p:sp>
        <p:nvSpPr>
          <p:cNvPr id="6" name="Text 6"/>
          <p:cNvSpPr>
            <a:spLocks noGrp="1"/>
          </p:cNvSpPr>
          <p:nvPr/>
        </p:nvSpPr>
        <p:spPr>
          <a:xfrm>
            <a:off x="594360" y="2240280"/>
            <a:ext cx="11064240" cy="2560320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</a:rPr>
              <a:t>BC / BC-FT: imitate strong scripted opponents to obtain a competent initial policy</a:t>
            </a:r>
            <a:endParaRPr lang="en-US" sz="165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</a:rPr>
              <a:t>PPO: refine the policy through exploration</a:t>
            </a:r>
            <a:endParaRPr lang="en-US" sz="165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</a:rPr>
              <a:t>LT: train against a population of evolving opponents instead of only bots or pure self-play</a:t>
            </a:r>
            <a:endParaRPr lang="en-US" sz="165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650">
                <a:solidFill>
                  <a:srgbClr val="000000"/>
                </a:solidFill>
              </a:rPr>
              <a:t>Fine-tuning: fix remaining weaknesses after LT, especially against WorkerRushAI</a:t>
            </a:r>
            <a:endParaRPr lang="en-US" sz="16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/>
        </p:nvSpPr>
        <p:spPr>
          <a:xfrm>
            <a:off x="0" y="0"/>
            <a:ext cx="12191695" cy="512064"/>
          </a:xfrm>
          <a:solidFill>
            <a:srgbClr val="EBF2F9"/>
          </a:solidFill>
          <a:ln w="12700">
            <a:noFill/>
          </a:ln>
          <a:prstGeom prst="rect">
            <a:avLst/>
          </a:prstGeom>
        </p:spPr>
      </p:sp>
      <p:sp>
        <p:nvSpPr>
          <p:cNvPr id="3" name="Text 3"/>
          <p:cNvSpPr>
            <a:spLocks noGrp="1"/>
          </p:cNvSpPr>
          <p:nvPr/>
        </p:nvSpPr>
        <p:spPr>
          <a:xfrm>
            <a:off x="164592" y="54864"/>
            <a:ext cx="9784080" cy="310896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marL="0" indent="0">
              <a:buNone/>
            </a:pPr>
            <a:r>
              <a:rPr lang="en-US" sz="2300">
                <a:solidFill>
                  <a:srgbClr val="003D7C"/>
                </a:solidFill>
              </a:rPr>
              <a:t>From SP to LT</a:t>
            </a:r>
            <a:endParaRPr lang="en-US" sz="2300"/>
          </a:p>
        </p:txBody>
      </p:sp>
      <p:sp>
        <p:nvSpPr>
          <p:cNvPr id="4" name="Text 4"/>
          <p:cNvSpPr>
            <a:spLocks noGrp="1"/>
          </p:cNvSpPr>
          <p:nvPr/>
        </p:nvSpPr>
        <p:spPr>
          <a:xfrm>
            <a:off x="11750040" y="6510528"/>
            <a:ext cx="347472" cy="146304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lang="en-US" sz="850">
                <a:solidFill>
                  <a:srgbClr val="000000"/>
                </a:solidFill>
              </a:rPr>
              <a:t>6 / 23</a:t>
            </a:r>
            <a:endParaRPr lang="en-US" sz="850"/>
          </a:p>
        </p:txBody>
      </p:sp>
      <p:sp>
        <p:nvSpPr>
          <p:cNvPr id="5" name="Text 5"/>
          <p:cNvSpPr>
            <a:spLocks noGrp="1"/>
          </p:cNvSpPr>
          <p:nvPr/>
        </p:nvSpPr>
        <p:spPr>
          <a:xfrm>
            <a:off x="685800" y="1143000"/>
            <a:ext cx="960120" cy="320040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550" b="1">
                <a:solidFill>
                  <a:srgbClr val="000000"/>
                </a:solidFill>
              </a:rPr>
              <a:t>SP</a:t>
            </a:r>
            <a:endParaRPr lang="en-US" sz="1550" b="1"/>
          </a:p>
        </p:txBody>
      </p:sp>
      <p:sp>
        <p:nvSpPr>
          <p:cNvPr id="6" name="Text 6"/>
          <p:cNvSpPr>
            <a:spLocks noGrp="1"/>
          </p:cNvSpPr>
          <p:nvPr/>
        </p:nvSpPr>
        <p:spPr>
          <a:xfrm>
            <a:off x="1783080" y="1143000"/>
            <a:ext cx="10012680" cy="438912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530">
                <a:solidFill>
                  <a:srgbClr val="000000"/>
                </a:solidFill>
              </a:rPr>
              <a:t>train against the current version of the agent; simple, but prone to overfitting or cyclical strategies</a:t>
            </a:r>
            <a:endParaRPr lang="en-US" sz="1530"/>
          </a:p>
        </p:txBody>
      </p:sp>
      <p:sp>
        <p:nvSpPr>
          <p:cNvPr id="7" name="Text 7"/>
          <p:cNvSpPr>
            <a:spLocks noGrp="1"/>
          </p:cNvSpPr>
          <p:nvPr/>
        </p:nvSpPr>
        <p:spPr>
          <a:xfrm>
            <a:off x="685800" y="1828800"/>
            <a:ext cx="960120" cy="320040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550" b="1">
                <a:solidFill>
                  <a:srgbClr val="000000"/>
                </a:solidFill>
              </a:rPr>
              <a:t>FSP</a:t>
            </a:r>
            <a:endParaRPr lang="en-US" sz="1550" b="1"/>
          </a:p>
        </p:txBody>
      </p:sp>
      <p:sp>
        <p:nvSpPr>
          <p:cNvPr id="8" name="Text 8"/>
          <p:cNvSpPr>
            <a:spLocks noGrp="1"/>
          </p:cNvSpPr>
          <p:nvPr/>
        </p:nvSpPr>
        <p:spPr>
          <a:xfrm>
            <a:off x="1783080" y="1828800"/>
            <a:ext cx="10012680" cy="438912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530">
                <a:solidFill>
                  <a:srgbClr val="000000"/>
                </a:solidFill>
              </a:rPr>
              <a:t>train against a set of past policies; reduces forgetting, but opponent choice is still crude</a:t>
            </a:r>
            <a:endParaRPr lang="en-US" sz="1530"/>
          </a:p>
        </p:txBody>
      </p:sp>
      <p:sp>
        <p:nvSpPr>
          <p:cNvPr id="9" name="Text 9"/>
          <p:cNvSpPr>
            <a:spLocks noGrp="1"/>
          </p:cNvSpPr>
          <p:nvPr/>
        </p:nvSpPr>
        <p:spPr>
          <a:xfrm>
            <a:off x="685800" y="2514600"/>
            <a:ext cx="960120" cy="320040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550" b="1">
                <a:solidFill>
                  <a:srgbClr val="000000"/>
                </a:solidFill>
              </a:rPr>
              <a:t>PFSP</a:t>
            </a:r>
            <a:endParaRPr lang="en-US" sz="1550" b="1"/>
          </a:p>
        </p:txBody>
      </p:sp>
      <p:sp>
        <p:nvSpPr>
          <p:cNvPr id="10" name="Text 10"/>
          <p:cNvSpPr>
            <a:spLocks noGrp="1"/>
          </p:cNvSpPr>
          <p:nvPr/>
        </p:nvSpPr>
        <p:spPr>
          <a:xfrm>
            <a:off x="1783080" y="2514600"/>
            <a:ext cx="10012680" cy="438912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530">
                <a:solidFill>
                  <a:srgbClr val="000000"/>
                </a:solidFill>
              </a:rPr>
              <a:t>sample opponents based on current win rates; focuses on informative and non-trivial matchups</a:t>
            </a:r>
            <a:endParaRPr lang="en-US" sz="1530"/>
          </a:p>
        </p:txBody>
      </p:sp>
      <p:sp>
        <p:nvSpPr>
          <p:cNvPr id="11" name="Text 11"/>
          <p:cNvSpPr>
            <a:spLocks noGrp="1"/>
          </p:cNvSpPr>
          <p:nvPr/>
        </p:nvSpPr>
        <p:spPr>
          <a:xfrm>
            <a:off x="685800" y="3200400"/>
            <a:ext cx="960120" cy="320040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550" b="1">
                <a:solidFill>
                  <a:srgbClr val="000000"/>
                </a:solidFill>
              </a:rPr>
              <a:t>LT</a:t>
            </a:r>
            <a:endParaRPr lang="en-US" sz="1550" b="1"/>
          </a:p>
        </p:txBody>
      </p:sp>
      <p:sp>
        <p:nvSpPr>
          <p:cNvPr id="12" name="Text 12"/>
          <p:cNvSpPr>
            <a:spLocks noGrp="1"/>
          </p:cNvSpPr>
          <p:nvPr/>
        </p:nvSpPr>
        <p:spPr>
          <a:xfrm>
            <a:off x="1783080" y="3200400"/>
            <a:ext cx="10012680" cy="438912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530">
                <a:solidFill>
                  <a:srgbClr val="000000"/>
                </a:solidFill>
              </a:rPr>
              <a:t>add role-based agents: Main Agent, Historical Agents, Main Exploiters and League Exploiters</a:t>
            </a:r>
            <a:endParaRPr lang="en-US" sz="1530"/>
          </a:p>
        </p:txBody>
      </p:sp>
      <p:sp>
        <p:nvSpPr>
          <p:cNvPr id="13" name="Shadow 13"/>
          <p:cNvSpPr>
            <a:spLocks noGrp="1"/>
          </p:cNvSpPr>
          <p:nvPr/>
        </p:nvSpPr>
        <p:spPr>
          <a:xfrm>
            <a:off x="777240" y="4389120"/>
            <a:ext cx="10789920" cy="914400"/>
          </a:xfrm>
          <a:solidFill>
            <a:srgbClr val="B5B5B5"/>
          </a:solidFill>
          <a:ln w="12700">
            <a:noFill/>
          </a:ln>
          <a:prstGeom prst="roundRect">
            <a:avLst/>
          </a:prstGeom>
        </p:spPr>
      </p:sp>
      <p:sp>
        <p:nvSpPr>
          <p:cNvPr id="14" name="Block 14"/>
          <p:cNvSpPr>
            <a:spLocks noGrp="1"/>
          </p:cNvSpPr>
          <p:nvPr/>
        </p:nvSpPr>
        <p:spPr>
          <a:xfrm>
            <a:off x="713232" y="4315968"/>
            <a:ext cx="10789920" cy="914400"/>
          </a:xfrm>
          <a:solidFill>
            <a:srgbClr val="EBF2F9"/>
          </a:solidFill>
          <a:ln w="12700">
            <a:noFill/>
          </a:ln>
          <a:prstGeom prst="roundRect">
            <a:avLst/>
          </a:prstGeom>
        </p:spPr>
      </p:sp>
      <p:sp>
        <p:nvSpPr>
          <p:cNvPr id="15" name="BlockTitle 15"/>
          <p:cNvSpPr>
            <a:spLocks noGrp="1"/>
          </p:cNvSpPr>
          <p:nvPr/>
        </p:nvSpPr>
        <p:spPr>
          <a:xfrm>
            <a:off x="713232" y="4315968"/>
            <a:ext cx="10789920" cy="384048"/>
          </a:xfrm>
          <a:solidFill>
            <a:srgbClr val="003D7C"/>
          </a:solidFill>
          <a:ln w="12700">
            <a:noFill/>
          </a:ln>
          <a:prstGeom prst="roundRect">
            <a:avLst/>
          </a:prstGeom>
        </p:spPr>
        <p:txBody>
          <a:bodyPr wrap="square" lIns="109728" rIns="91440" tIns="54864" bIns="18288" anchor="ctr">
            <a:sp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Why LT?</a:t>
            </a:r>
            <a:endParaRPr lang="en-US" sz="1700"/>
          </a:p>
        </p:txBody>
      </p:sp>
      <p:sp>
        <p:nvSpPr>
          <p:cNvPr id="16" name="Text 16"/>
          <p:cNvSpPr>
            <a:spLocks noGrp="1"/>
          </p:cNvSpPr>
          <p:nvPr/>
        </p:nvSpPr>
        <p:spPr>
          <a:xfrm>
            <a:off x="822960" y="4773168"/>
            <a:ext cx="10570464" cy="420624"/>
          </a:xfrm>
          <a:noFill/>
          <a:ln w="12700">
            <a:noFill/>
          </a:ln>
          <a:prstGeom prst="rect">
            <a:avLst/>
          </a:prstGeom>
        </p:spPr>
        <p:txBody>
          <a:bodyPr wrap="square" lIns="18288" rIns="18288" tIns="0" bIns="0" anchor="t">
            <a:spAutoFit/>
          </a:bodyPr>
          <a:lstStyle/>
          <a:p>
            <a:pPr marL="0" indent="0">
              <a:buNone/>
            </a:pPr>
            <a:r>
              <a:rPr lang="en-US" sz="1480">
                <a:solidFill>
                  <a:srgbClr val="000000"/>
                </a:solidFill>
              </a:rPr>
              <a:t>LT does not only preserve diversity through historical snapshots, it also creates diversity through exploiters that actively search for weaknesses of the current policy.</a:t>
            </a:r>
            <a:endParaRPr lang="en-US" sz="148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/>
        </p:nvSpPr>
        <p:spPr>
          <a:xfrm>
            <a:off x="0" y="0"/>
            <a:ext cx="12191695" cy="512064"/>
          </a:xfrm>
          <a:solidFill>
            <a:srgbClr val="EBF2F9"/>
          </a:solidFill>
          <a:ln w="12700">
            <a:noFill/>
          </a:ln>
          <a:prstGeom prst="rect">
            <a:avLst/>
          </a:prstGeom>
        </p:spPr>
      </p:sp>
      <p:sp>
        <p:nvSpPr>
          <p:cNvPr id="3" name="Text 3"/>
          <p:cNvSpPr>
            <a:spLocks noGrp="1"/>
          </p:cNvSpPr>
          <p:nvPr/>
        </p:nvSpPr>
        <p:spPr>
          <a:xfrm>
            <a:off x="164592" y="54864"/>
            <a:ext cx="9784080" cy="310896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marL="0" indent="0">
              <a:buNone/>
            </a:pPr>
            <a:r>
              <a:rPr lang="en-US" sz="2300">
                <a:solidFill>
                  <a:srgbClr val="003D7C"/>
                </a:solidFill>
              </a:rPr>
              <a:t>League Training Design</a:t>
            </a:r>
            <a:endParaRPr lang="en-US" sz="2300"/>
          </a:p>
        </p:txBody>
      </p:sp>
      <p:sp>
        <p:nvSpPr>
          <p:cNvPr id="4" name="Text 4"/>
          <p:cNvSpPr>
            <a:spLocks noGrp="1"/>
          </p:cNvSpPr>
          <p:nvPr/>
        </p:nvSpPr>
        <p:spPr>
          <a:xfrm>
            <a:off x="11750040" y="6510528"/>
            <a:ext cx="347472" cy="146304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lang="en-US" sz="850">
                <a:solidFill>
                  <a:srgbClr val="000000"/>
                </a:solidFill>
              </a:rPr>
              <a:t>7 / 23</a:t>
            </a:r>
            <a:endParaRPr lang="en-US" sz="850"/>
          </a:p>
        </p:txBody>
      </p:sp>
      <p:sp>
        <p:nvSpPr>
          <p:cNvPr id="5" name="Text 5"/>
          <p:cNvSpPr>
            <a:spLocks noGrp="1"/>
          </p:cNvSpPr>
          <p:nvPr/>
        </p:nvSpPr>
        <p:spPr>
          <a:xfrm>
            <a:off x="713232" y="1170432"/>
            <a:ext cx="10789920" cy="2148840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</a:rPr>
              <a:t>Main Agent: primary policy</a:t>
            </a:r>
            <a:endParaRPr lang="en-US" sz="170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</a:rPr>
              <a:t>Historical Agents: frozen snapshots for stability</a:t>
            </a:r>
            <a:endParaRPr lang="en-US" sz="170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</a:rPr>
              <a:t>Main Exploiters: exploit weaknesses of historical Main Agents</a:t>
            </a:r>
            <a:endParaRPr lang="en-US" sz="170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</a:rPr>
              <a:t>League Exploiters: search for broader league weaknesses</a:t>
            </a:r>
            <a:endParaRPr lang="en-US" sz="1700"/>
          </a:p>
        </p:txBody>
      </p:sp>
      <p:sp>
        <p:nvSpPr>
          <p:cNvPr id="6" name="Shadow 6"/>
          <p:cNvSpPr>
            <a:spLocks noGrp="1"/>
          </p:cNvSpPr>
          <p:nvPr/>
        </p:nvSpPr>
        <p:spPr>
          <a:xfrm>
            <a:off x="795528" y="4050792"/>
            <a:ext cx="10789920" cy="914400"/>
          </a:xfrm>
          <a:solidFill>
            <a:srgbClr val="B5B5B5"/>
          </a:solidFill>
          <a:ln w="12700">
            <a:noFill/>
          </a:ln>
          <a:prstGeom prst="roundRect">
            <a:avLst/>
          </a:prstGeom>
        </p:spPr>
      </p:sp>
      <p:sp>
        <p:nvSpPr>
          <p:cNvPr id="7" name="Block 7"/>
          <p:cNvSpPr>
            <a:spLocks noGrp="1"/>
          </p:cNvSpPr>
          <p:nvPr/>
        </p:nvSpPr>
        <p:spPr>
          <a:xfrm>
            <a:off x="731520" y="3977640"/>
            <a:ext cx="10789920" cy="914400"/>
          </a:xfrm>
          <a:solidFill>
            <a:srgbClr val="EBF2F9"/>
          </a:solidFill>
          <a:ln w="12700">
            <a:noFill/>
          </a:ln>
          <a:prstGeom prst="roundRect">
            <a:avLst/>
          </a:prstGeom>
        </p:spPr>
      </p:sp>
      <p:sp>
        <p:nvSpPr>
          <p:cNvPr id="8" name="BlockTitle 8"/>
          <p:cNvSpPr>
            <a:spLocks noGrp="1"/>
          </p:cNvSpPr>
          <p:nvPr/>
        </p:nvSpPr>
        <p:spPr>
          <a:xfrm>
            <a:off x="731520" y="3977640"/>
            <a:ext cx="10789920" cy="384048"/>
          </a:xfrm>
          <a:solidFill>
            <a:srgbClr val="003D7C"/>
          </a:solidFill>
          <a:ln w="12700">
            <a:noFill/>
          </a:ln>
          <a:prstGeom prst="roundRect">
            <a:avLst/>
          </a:prstGeom>
        </p:spPr>
        <p:txBody>
          <a:bodyPr wrap="square" lIns="109728" rIns="91440" tIns="54864" bIns="18288" anchor="ctr">
            <a:sp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Key idea</a:t>
            </a:r>
            <a:endParaRPr lang="en-US" sz="1700"/>
          </a:p>
        </p:txBody>
      </p:sp>
      <p:sp>
        <p:nvSpPr>
          <p:cNvPr id="9" name="Text 9"/>
          <p:cNvSpPr>
            <a:spLocks noGrp="1"/>
          </p:cNvSpPr>
          <p:nvPr/>
        </p:nvSpPr>
        <p:spPr>
          <a:xfrm>
            <a:off x="841248" y="4434840"/>
            <a:ext cx="10570464" cy="420624"/>
          </a:xfrm>
          <a:noFill/>
          <a:ln w="12700">
            <a:noFill/>
          </a:ln>
          <a:prstGeom prst="rect">
            <a:avLst/>
          </a:prstGeom>
        </p:spPr>
        <p:txBody>
          <a:bodyPr wrap="square" lIns="18288" rIns="18288" tIns="0" bIns="0" anchor="t">
            <a:spAutoFit/>
          </a:bodyPr>
          <a:lstStyle/>
          <a:p>
            <a:pPr marL="0" indent="0">
              <a:buNone/>
            </a:pPr>
            <a:r>
              <a:rPr lang="en-US" sz="1520">
                <a:solidFill>
                  <a:srgbClr val="000000"/>
                </a:solidFill>
              </a:rPr>
              <a:t>LT turns robustness against diverse opponents into part of the optimization target.</a:t>
            </a:r>
            <a:endParaRPr lang="en-US" sz="152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/>
        </p:nvSpPr>
        <p:spPr>
          <a:xfrm>
            <a:off x="0" y="0"/>
            <a:ext cx="12191695" cy="512064"/>
          </a:xfrm>
          <a:solidFill>
            <a:srgbClr val="EBF2F9"/>
          </a:solidFill>
          <a:ln w="12700">
            <a:noFill/>
          </a:ln>
          <a:prstGeom prst="rect">
            <a:avLst/>
          </a:prstGeom>
        </p:spPr>
      </p:sp>
      <p:sp>
        <p:nvSpPr>
          <p:cNvPr id="3" name="Text 3"/>
          <p:cNvSpPr>
            <a:spLocks noGrp="1"/>
          </p:cNvSpPr>
          <p:nvPr/>
        </p:nvSpPr>
        <p:spPr>
          <a:xfrm>
            <a:off x="164592" y="54864"/>
            <a:ext cx="9784080" cy="310896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marL="0" indent="0">
              <a:buNone/>
            </a:pPr>
            <a:r>
              <a:rPr lang="en-US" sz="2300">
                <a:solidFill>
                  <a:srgbClr val="003D7C"/>
                </a:solidFill>
              </a:rPr>
              <a:t>Bot Environments</a:t>
            </a:r>
            <a:endParaRPr lang="en-US" sz="2300"/>
          </a:p>
        </p:txBody>
      </p:sp>
      <p:sp>
        <p:nvSpPr>
          <p:cNvPr id="4" name="Text 4"/>
          <p:cNvSpPr>
            <a:spLocks noGrp="1"/>
          </p:cNvSpPr>
          <p:nvPr/>
        </p:nvSpPr>
        <p:spPr>
          <a:xfrm>
            <a:off x="11750040" y="6510528"/>
            <a:ext cx="347472" cy="146304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lang="en-US" sz="850">
                <a:solidFill>
                  <a:srgbClr val="000000"/>
                </a:solidFill>
              </a:rPr>
              <a:t>8 / 23</a:t>
            </a:r>
            <a:endParaRPr lang="en-US" sz="850"/>
          </a:p>
        </p:txBody>
      </p:sp>
      <p:sp>
        <p:nvSpPr>
          <p:cNvPr id="5" name="Text 5"/>
          <p:cNvSpPr>
            <a:spLocks noGrp="1"/>
          </p:cNvSpPr>
          <p:nvPr/>
        </p:nvSpPr>
        <p:spPr>
          <a:xfrm>
            <a:off x="438912" y="1207008"/>
            <a:ext cx="5623560" cy="3474720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620">
                <a:solidFill>
                  <a:srgbClr val="000000"/>
                </a:solidFill>
              </a:rPr>
              <a:t>additional dynamic bot environments (CoacAI and Mayari)</a:t>
            </a:r>
            <a:endParaRPr lang="en-US" sz="162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620">
                <a:solidFill>
                  <a:srgbClr val="000000"/>
                </a:solidFill>
              </a:rPr>
              <a:t>scripted bots: CoacAI, Mayari, WorkerRushAI, PassiveAI, LightRushAI, RandomAI and RandomBiasedAI</a:t>
            </a:r>
            <a:endParaRPr lang="en-US" sz="162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620">
                <a:solidFill>
                  <a:srgbClr val="000000"/>
                </a:solidFill>
              </a:rPr>
              <a:t>MCTS based bots: Rojo, MixedBot, Izanagi, Tiamat, Droplet, GuidedRojoA3N and NaiveMCTS</a:t>
            </a:r>
            <a:endParaRPr lang="en-US" sz="1620"/>
          </a:p>
        </p:txBody>
      </p:sp>
      <p:pic>
        <p:nvPicPr>
          <p:cNvPr id="6" name="BotEnvs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777936"/>
            <a:ext cx="4983480" cy="26163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/>
        </p:nvSpPr>
        <p:spPr>
          <a:xfrm>
            <a:off x="0" y="0"/>
            <a:ext cx="12191695" cy="512064"/>
          </a:xfrm>
          <a:solidFill>
            <a:srgbClr val="EBF2F9"/>
          </a:solidFill>
          <a:ln w="12700">
            <a:noFill/>
          </a:ln>
          <a:prstGeom prst="rect">
            <a:avLst/>
          </a:prstGeom>
        </p:spPr>
      </p:sp>
      <p:sp>
        <p:nvSpPr>
          <p:cNvPr id="3" name="Text 3"/>
          <p:cNvSpPr>
            <a:spLocks noGrp="1"/>
          </p:cNvSpPr>
          <p:nvPr/>
        </p:nvSpPr>
        <p:spPr>
          <a:xfrm>
            <a:off x="164592" y="54864"/>
            <a:ext cx="9784080" cy="310896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marL="0" indent="0">
              <a:buNone/>
            </a:pPr>
            <a:r>
              <a:rPr lang="en-US" sz="2300">
                <a:solidFill>
                  <a:srgbClr val="003D7C"/>
                </a:solidFill>
              </a:rPr>
              <a:t>Observation Adjustment for SP</a:t>
            </a:r>
            <a:endParaRPr lang="en-US" sz="2300"/>
          </a:p>
        </p:txBody>
      </p:sp>
      <p:sp>
        <p:nvSpPr>
          <p:cNvPr id="4" name="Text 4"/>
          <p:cNvSpPr>
            <a:spLocks noGrp="1"/>
          </p:cNvSpPr>
          <p:nvPr/>
        </p:nvSpPr>
        <p:spPr>
          <a:xfrm>
            <a:off x="11750040" y="6510528"/>
            <a:ext cx="347472" cy="146304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lang="en-US" sz="850">
                <a:solidFill>
                  <a:srgbClr val="000000"/>
                </a:solidFill>
              </a:rPr>
              <a:t>9 / 23</a:t>
            </a:r>
            <a:endParaRPr lang="en-US" sz="850"/>
          </a:p>
        </p:txBody>
      </p:sp>
      <p:pic>
        <p:nvPicPr>
          <p:cNvPr id="5" name="AdjustObs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7820"/>
            <a:ext cx="11201400" cy="3733800"/>
          </a:xfrm>
          <a:prstGeom prst="rect">
            <a:avLst/>
          </a:prstGeom>
        </p:spPr>
      </p:pic>
      <p:sp>
        <p:nvSpPr>
          <p:cNvPr id="6" name="Text 6"/>
          <p:cNvSpPr>
            <a:spLocks noGrp="1"/>
          </p:cNvSpPr>
          <p:nvPr/>
        </p:nvSpPr>
        <p:spPr>
          <a:xfrm>
            <a:off x="1417320" y="5943600"/>
            <a:ext cx="9326880" cy="274320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algn="ctr" marL="0" indent="0">
              <a:buNone/>
            </a:pPr>
            <a:r>
              <a:rPr lang="en-US" sz="1150">
                <a:solidFill>
                  <a:srgbClr val="000000"/>
                </a:solidFill>
              </a:rPr>
              <a:t>Player 2 observations are transformed so SP remains compatible with a Base Agent only trained as Player 1.</a:t>
            </a:r>
            <a:endParaRPr lang="en-US" sz="11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/>
        </p:nvSpPr>
        <p:spPr>
          <a:xfrm>
            <a:off x="0" y="0"/>
            <a:ext cx="12191695" cy="512064"/>
          </a:xfrm>
          <a:solidFill>
            <a:srgbClr val="EBF2F9"/>
          </a:solidFill>
          <a:ln w="12700">
            <a:noFill/>
          </a:ln>
          <a:prstGeom prst="rect">
            <a:avLst/>
          </a:prstGeom>
        </p:spPr>
      </p:sp>
      <p:sp>
        <p:nvSpPr>
          <p:cNvPr id="3" name="Text 3"/>
          <p:cNvSpPr>
            <a:spLocks noGrp="1"/>
          </p:cNvSpPr>
          <p:nvPr/>
        </p:nvSpPr>
        <p:spPr>
          <a:xfrm>
            <a:off x="164592" y="54864"/>
            <a:ext cx="9784080" cy="310896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marL="0" indent="0">
              <a:buNone/>
            </a:pPr>
            <a:r>
              <a:rPr lang="en-US" sz="2300">
                <a:solidFill>
                  <a:srgbClr val="003D7C"/>
                </a:solidFill>
              </a:rPr>
              <a:t>LT Matchmaking</a:t>
            </a:r>
            <a:endParaRPr lang="en-US" sz="2300"/>
          </a:p>
        </p:txBody>
      </p:sp>
      <p:sp>
        <p:nvSpPr>
          <p:cNvPr id="4" name="Text 4"/>
          <p:cNvSpPr>
            <a:spLocks noGrp="1"/>
          </p:cNvSpPr>
          <p:nvPr/>
        </p:nvSpPr>
        <p:spPr>
          <a:xfrm>
            <a:off x="11750040" y="6510528"/>
            <a:ext cx="347472" cy="146304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lang="en-US" sz="850">
                <a:solidFill>
                  <a:srgbClr val="000000"/>
                </a:solidFill>
              </a:rPr>
              <a:t>10 / 23</a:t>
            </a:r>
            <a:endParaRPr lang="en-US" sz="850"/>
          </a:p>
        </p:txBody>
      </p:sp>
      <p:pic>
        <p:nvPicPr>
          <p:cNvPr id="5" name="Matchmaking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294" y="914400"/>
            <a:ext cx="7475220" cy="4983480"/>
          </a:xfrm>
          <a:prstGeom prst="rect">
            <a:avLst/>
          </a:prstGeom>
        </p:spPr>
      </p:pic>
      <p:sp>
        <p:nvSpPr>
          <p:cNvPr id="6" name="Text 6"/>
          <p:cNvSpPr>
            <a:spLocks noGrp="1"/>
          </p:cNvSpPr>
          <p:nvPr/>
        </p:nvSpPr>
        <p:spPr>
          <a:xfrm>
            <a:off x="3200400" y="5870448"/>
            <a:ext cx="5852160" cy="20116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algn="ctr" marL="0" indent="0">
              <a:buNone/>
            </a:pPr>
            <a:r>
              <a:rPr lang="en-US" sz="1120">
                <a:solidFill>
                  <a:srgbClr val="000000"/>
                </a:solidFill>
              </a:rPr>
              <a:t>Matchmaking and opponent sampling in the LT setup.</a:t>
            </a:r>
            <a:endParaRPr lang="en-US" sz="112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/>
        </p:nvSpPr>
        <p:spPr>
          <a:xfrm>
            <a:off x="0" y="0"/>
            <a:ext cx="12191695" cy="512064"/>
          </a:xfrm>
          <a:solidFill>
            <a:srgbClr val="EBF2F9"/>
          </a:solidFill>
          <a:ln w="12700">
            <a:noFill/>
          </a:ln>
          <a:prstGeom prst="rect">
            <a:avLst/>
          </a:prstGeom>
        </p:spPr>
      </p:sp>
      <p:sp>
        <p:nvSpPr>
          <p:cNvPr id="3" name="Text 3"/>
          <p:cNvSpPr>
            <a:spLocks noGrp="1"/>
          </p:cNvSpPr>
          <p:nvPr/>
        </p:nvSpPr>
        <p:spPr>
          <a:xfrm>
            <a:off x="164592" y="54864"/>
            <a:ext cx="9784080" cy="310896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marL="0" indent="0">
              <a:buNone/>
            </a:pPr>
            <a:r>
              <a:rPr lang="en-US" sz="2300">
                <a:solidFill>
                  <a:srgbClr val="003D7C"/>
                </a:solidFill>
              </a:rPr>
              <a:t>Other Implementation Changes</a:t>
            </a:r>
            <a:endParaRPr lang="en-US" sz="2300"/>
          </a:p>
        </p:txBody>
      </p:sp>
      <p:sp>
        <p:nvSpPr>
          <p:cNvPr id="4" name="Text 4"/>
          <p:cNvSpPr>
            <a:spLocks noGrp="1"/>
          </p:cNvSpPr>
          <p:nvPr/>
        </p:nvSpPr>
        <p:spPr>
          <a:xfrm>
            <a:off x="11750040" y="6510528"/>
            <a:ext cx="347472" cy="146304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lang="en-US" sz="850">
                <a:solidFill>
                  <a:srgbClr val="000000"/>
                </a:solidFill>
              </a:rPr>
              <a:t>11 / 23</a:t>
            </a:r>
            <a:endParaRPr lang="en-US" sz="850"/>
          </a:p>
        </p:txBody>
      </p:sp>
      <p:sp>
        <p:nvSpPr>
          <p:cNvPr id="5" name="Text 5"/>
          <p:cNvSpPr>
            <a:spLocks noGrp="1"/>
          </p:cNvSpPr>
          <p:nvPr/>
        </p:nvSpPr>
        <p:spPr>
          <a:xfrm>
            <a:off x="3977640" y="2011680"/>
            <a:ext cx="4023360" cy="1325880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</a:rPr>
              <a:t>delta score</a:t>
            </a:r>
            <a:endParaRPr lang="en-US" sz="190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</a:rPr>
              <a:t>annealed entropy coefficient</a:t>
            </a:r>
            <a:endParaRPr lang="en-US" sz="190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</a:rPr>
              <a:t>new initial agents</a:t>
            </a:r>
            <a:endParaRPr lang="en-US" sz="1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/>
        </p:nvSpPr>
        <p:spPr>
          <a:xfrm>
            <a:off x="0" y="0"/>
            <a:ext cx="12191695" cy="512064"/>
          </a:xfrm>
          <a:solidFill>
            <a:srgbClr val="EBF2F9"/>
          </a:solidFill>
          <a:ln w="12700">
            <a:noFill/>
          </a:ln>
          <a:prstGeom prst="rect">
            <a:avLst/>
          </a:prstGeom>
        </p:spPr>
      </p:sp>
      <p:sp>
        <p:nvSpPr>
          <p:cNvPr id="3" name="Text 3"/>
          <p:cNvSpPr>
            <a:spLocks noGrp="1"/>
          </p:cNvSpPr>
          <p:nvPr/>
        </p:nvSpPr>
        <p:spPr>
          <a:xfrm>
            <a:off x="164592" y="54864"/>
            <a:ext cx="9784080" cy="310896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marL="0" indent="0">
              <a:buNone/>
            </a:pPr>
            <a:r>
              <a:rPr lang="en-US" sz="2300">
                <a:solidFill>
                  <a:srgbClr val="003D7C"/>
                </a:solidFill>
              </a:rPr>
              <a:t>Experiment Setup</a:t>
            </a:r>
            <a:endParaRPr lang="en-US" sz="2300"/>
          </a:p>
        </p:txBody>
      </p:sp>
      <p:sp>
        <p:nvSpPr>
          <p:cNvPr id="4" name="Text 4"/>
          <p:cNvSpPr>
            <a:spLocks noGrp="1"/>
          </p:cNvSpPr>
          <p:nvPr/>
        </p:nvSpPr>
        <p:spPr>
          <a:xfrm>
            <a:off x="11750040" y="6510528"/>
            <a:ext cx="347472" cy="146304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lang="en-US" sz="850">
                <a:solidFill>
                  <a:srgbClr val="000000"/>
                </a:solidFill>
              </a:rPr>
              <a:t>12 / 23</a:t>
            </a:r>
            <a:endParaRPr lang="en-US" sz="850"/>
          </a:p>
        </p:txBody>
      </p:sp>
      <p:sp>
        <p:nvSpPr>
          <p:cNvPr id="5" name="Text 5"/>
          <p:cNvSpPr>
            <a:spLocks noGrp="1"/>
          </p:cNvSpPr>
          <p:nvPr/>
        </p:nvSpPr>
        <p:spPr>
          <a:xfrm>
            <a:off x="384048" y="960120"/>
            <a:ext cx="5806440" cy="4480560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590">
                <a:solidFill>
                  <a:srgbClr val="000000"/>
                </a:solidFill>
              </a:rPr>
              <a:t>map: basesWorkers16x16A</a:t>
            </a:r>
            <a:endParaRPr lang="en-US" sz="159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590">
                <a:solidFill>
                  <a:srgbClr val="000000"/>
                </a:solidFill>
              </a:rPr>
              <a:t>LT setup: 1 Main Agent, 4 Main Exploiters, 1 League Exploiter</a:t>
            </a:r>
            <a:endParaRPr lang="en-US" sz="159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590">
                <a:solidFill>
                  <a:srgbClr val="000000"/>
                </a:solidFill>
              </a:rPr>
              <a:t>25 environments per learning agent</a:t>
            </a:r>
            <a:endParaRPr lang="en-US" sz="159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590">
                <a:solidFill>
                  <a:srgbClr val="000000"/>
                </a:solidFill>
              </a:rPr>
              <a:t>5 to 10 additional dynamic bot environments</a:t>
            </a:r>
            <a:endParaRPr lang="en-US" sz="159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590">
                <a:solidFill>
                  <a:srgbClr val="000000"/>
                </a:solidFill>
              </a:rPr>
              <a:t>approximately 130 million LT steps</a:t>
            </a:r>
            <a:endParaRPr lang="en-US" sz="159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590">
                <a:solidFill>
                  <a:srgbClr val="000000"/>
                </a:solidFill>
              </a:rPr>
              <a:t>training time: about 100 hours</a:t>
            </a:r>
            <a:endParaRPr lang="en-US" sz="159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590">
                <a:solidFill>
                  <a:srgbClr val="000000"/>
                </a:solidFill>
              </a:rPr>
              <a:t>maximum setup size: 160 parallel environments</a:t>
            </a:r>
            <a:endParaRPr lang="en-US" sz="159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520">
                <a:solidFill>
                  <a:srgbClr val="000000"/>
                </a:solidFill>
              </a:rPr>
              <a:t>evaluations over at least 100 games against 12 opponents after LT and after fine-tuning</a:t>
            </a:r>
            <a:endParaRPr lang="en-US" sz="1520"/>
          </a:p>
        </p:txBody>
      </p:sp>
      <p:pic>
        <p:nvPicPr>
          <p:cNvPr id="6" name="BotRates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09940"/>
            <a:ext cx="4983480" cy="26163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/>
        </p:nvSpPr>
        <p:spPr>
          <a:xfrm>
            <a:off x="0" y="0"/>
            <a:ext cx="12191695" cy="512064"/>
          </a:xfrm>
          <a:solidFill>
            <a:srgbClr val="EBF2F9"/>
          </a:solidFill>
          <a:ln w="12700">
            <a:noFill/>
          </a:ln>
          <a:prstGeom prst="rect">
            <a:avLst/>
          </a:prstGeom>
        </p:spPr>
      </p:sp>
      <p:sp>
        <p:nvSpPr>
          <p:cNvPr id="3" name="Text 3"/>
          <p:cNvSpPr>
            <a:spLocks noGrp="1"/>
          </p:cNvSpPr>
          <p:nvPr/>
        </p:nvSpPr>
        <p:spPr>
          <a:xfrm>
            <a:off x="164592" y="54864"/>
            <a:ext cx="9784080" cy="310896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marL="0" indent="0">
              <a:buNone/>
            </a:pPr>
            <a:r>
              <a:rPr lang="en-US" sz="2300">
                <a:solidFill>
                  <a:srgbClr val="003D7C"/>
                </a:solidFill>
              </a:rPr>
              <a:t>Main Quantitative Result</a:t>
            </a:r>
            <a:endParaRPr lang="en-US" sz="2300"/>
          </a:p>
        </p:txBody>
      </p:sp>
      <p:sp>
        <p:nvSpPr>
          <p:cNvPr id="4" name="Text 4"/>
          <p:cNvSpPr>
            <a:spLocks noGrp="1"/>
          </p:cNvSpPr>
          <p:nvPr/>
        </p:nvSpPr>
        <p:spPr>
          <a:xfrm>
            <a:off x="11750040" y="6510528"/>
            <a:ext cx="347472" cy="146304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lang="en-US" sz="850">
                <a:solidFill>
                  <a:srgbClr val="000000"/>
                </a:solidFill>
              </a:rPr>
              <a:t>13 / 23</a:t>
            </a:r>
            <a:endParaRPr lang="en-US" sz="850"/>
          </a:p>
        </p:txBody>
      </p:sp>
      <p:pic>
        <p:nvPicPr>
          <p:cNvPr id="5" name="TotalWinrat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27" y="1280160"/>
            <a:ext cx="5851347" cy="3703320"/>
          </a:xfrm>
          <a:prstGeom prst="rect">
            <a:avLst/>
          </a:prstGeom>
        </p:spPr>
      </p:pic>
      <p:sp>
        <p:nvSpPr>
          <p:cNvPr id="6" name="Text 6"/>
          <p:cNvSpPr>
            <a:spLocks noGrp="1"/>
          </p:cNvSpPr>
          <p:nvPr/>
        </p:nvSpPr>
        <p:spPr>
          <a:xfrm>
            <a:off x="7315200" y="2148840"/>
            <a:ext cx="4297680" cy="594360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</a:rPr>
              <a:t>overall loss rate drops from 7.7% to 2.2%</a:t>
            </a:r>
            <a:endParaRPr lang="en-US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/>
        </p:nvSpPr>
        <p:spPr>
          <a:xfrm>
            <a:off x="0" y="0"/>
            <a:ext cx="12191695" cy="512064"/>
          </a:xfrm>
          <a:solidFill>
            <a:srgbClr val="EBF2F9"/>
          </a:solidFill>
          <a:ln w="12700">
            <a:noFill/>
          </a:ln>
          <a:prstGeom prst="rect">
            <a:avLst/>
          </a:prstGeom>
        </p:spPr>
      </p:sp>
      <p:sp>
        <p:nvSpPr>
          <p:cNvPr id="3" name="Text 3"/>
          <p:cNvSpPr>
            <a:spLocks noGrp="1"/>
          </p:cNvSpPr>
          <p:nvPr/>
        </p:nvSpPr>
        <p:spPr>
          <a:xfrm>
            <a:off x="164592" y="54864"/>
            <a:ext cx="9784080" cy="310896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marL="0" indent="0">
              <a:buNone/>
            </a:pPr>
            <a:r>
              <a:rPr lang="en-US" sz="2300">
                <a:solidFill>
                  <a:srgbClr val="003D7C"/>
                </a:solidFill>
              </a:rPr>
              <a:t>Evaluation Results</a:t>
            </a:r>
            <a:endParaRPr lang="en-US" sz="2300"/>
          </a:p>
        </p:txBody>
      </p:sp>
      <p:sp>
        <p:nvSpPr>
          <p:cNvPr id="4" name="Text 4"/>
          <p:cNvSpPr>
            <a:spLocks noGrp="1"/>
          </p:cNvSpPr>
          <p:nvPr/>
        </p:nvSpPr>
        <p:spPr>
          <a:xfrm>
            <a:off x="11750040" y="6510528"/>
            <a:ext cx="347472" cy="146304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lang="en-US" sz="850">
                <a:solidFill>
                  <a:srgbClr val="000000"/>
                </a:solidFill>
              </a:rPr>
              <a:t>14 / 23</a:t>
            </a:r>
            <a:endParaRPr lang="en-US" sz="850"/>
          </a:p>
        </p:txBody>
      </p:sp>
      <p:sp>
        <p:nvSpPr>
          <p:cNvPr id="5" name="Rule 5"/>
          <p:cNvSpPr>
            <a:spLocks noGrp="1"/>
          </p:cNvSpPr>
          <p:nvPr/>
        </p:nvSpPr>
        <p:spPr>
          <a:xfrm>
            <a:off x="274320" y="1060704"/>
            <a:ext cx="11658600" cy="16459"/>
          </a:xfrm>
          <a:solidFill>
            <a:srgbClr val="000000"/>
          </a:solidFill>
          <a:ln w="12700">
            <a:noFill/>
          </a:ln>
          <a:prstGeom prst="rect">
            <a:avLst/>
          </a:prstGeom>
        </p:spPr>
      </p:sp>
      <p:sp>
        <p:nvSpPr>
          <p:cNvPr id="6" name="Text 6"/>
          <p:cNvSpPr>
            <a:spLocks noGrp="1"/>
          </p:cNvSpPr>
          <p:nvPr/>
        </p:nvSpPr>
        <p:spPr>
          <a:xfrm>
            <a:off x="292608" y="1207008"/>
            <a:ext cx="2194560" cy="347472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20">
                <a:solidFill>
                  <a:srgbClr val="000000"/>
                </a:solidFill>
              </a:rPr>
              <a:t>Opponent</a:t>
            </a:r>
            <a:endParaRPr lang="en-US" sz="1220"/>
          </a:p>
        </p:txBody>
      </p:sp>
      <p:sp>
        <p:nvSpPr>
          <p:cNvPr id="7" name="Text 7"/>
          <p:cNvSpPr>
            <a:spLocks noGrp="1"/>
          </p:cNvSpPr>
          <p:nvPr/>
        </p:nvSpPr>
        <p:spPr>
          <a:xfrm>
            <a:off x="2606040" y="1115568"/>
            <a:ext cx="2423160" cy="502920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60">
                <a:solidFill>
                  <a:srgbClr val="000000"/>
                </a:solidFill>
              </a:rPr>
              <a:t>Main Agent</a:t>
            </a:r>
            <a:br/>
            <a:r>
              <a:rPr lang="en-US" sz="1160">
                <a:solidFill>
                  <a:srgbClr val="000000"/>
                </a:solidFill>
              </a:rPr>
              <a:t>without new initial agents</a:t>
            </a:r>
            <a:endParaRPr lang="en-US" sz="1160"/>
          </a:p>
        </p:txBody>
      </p:sp>
      <p:sp>
        <p:nvSpPr>
          <p:cNvPr id="8" name="Text 8"/>
          <p:cNvSpPr>
            <a:spLocks noGrp="1"/>
          </p:cNvSpPr>
          <p:nvPr/>
        </p:nvSpPr>
        <p:spPr>
          <a:xfrm>
            <a:off x="5230368" y="1115568"/>
            <a:ext cx="1600200" cy="502920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60">
                <a:solidFill>
                  <a:srgbClr val="000000"/>
                </a:solidFill>
              </a:rPr>
              <a:t>Base Agent</a:t>
            </a:r>
            <a:endParaRPr lang="en-US" sz="1160"/>
          </a:p>
        </p:txBody>
      </p:sp>
      <p:sp>
        <p:nvSpPr>
          <p:cNvPr id="9" name="Text 9"/>
          <p:cNvSpPr>
            <a:spLocks noGrp="1"/>
          </p:cNvSpPr>
          <p:nvPr/>
        </p:nvSpPr>
        <p:spPr>
          <a:xfrm>
            <a:off x="7269480" y="1115568"/>
            <a:ext cx="1965960" cy="502920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60">
                <a:solidFill>
                  <a:srgbClr val="000000"/>
                </a:solidFill>
              </a:rPr>
              <a:t>Main Agent (LT)</a:t>
            </a:r>
            <a:endParaRPr lang="en-US" sz="1160"/>
          </a:p>
        </p:txBody>
      </p:sp>
      <p:sp>
        <p:nvSpPr>
          <p:cNvPr id="10" name="Text 10"/>
          <p:cNvSpPr>
            <a:spLocks noGrp="1"/>
          </p:cNvSpPr>
          <p:nvPr/>
        </p:nvSpPr>
        <p:spPr>
          <a:xfrm>
            <a:off x="9875520" y="1115568"/>
            <a:ext cx="1938528" cy="502920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60">
                <a:solidFill>
                  <a:srgbClr val="000000"/>
                </a:solidFill>
              </a:rPr>
              <a:t>Main Agent +</a:t>
            </a:r>
            <a:br/>
            <a:r>
              <a:rPr lang="en-US" sz="1160">
                <a:solidFill>
                  <a:srgbClr val="000000"/>
                </a:solidFill>
              </a:rPr>
              <a:t>Fine-tuning</a:t>
            </a:r>
            <a:endParaRPr lang="en-US" sz="1160"/>
          </a:p>
        </p:txBody>
      </p:sp>
      <p:sp>
        <p:nvSpPr>
          <p:cNvPr id="11" name="Rule 11"/>
          <p:cNvSpPr>
            <a:spLocks noGrp="1"/>
          </p:cNvSpPr>
          <p:nvPr/>
        </p:nvSpPr>
        <p:spPr>
          <a:xfrm>
            <a:off x="274320" y="1664208"/>
            <a:ext cx="11658600" cy="10973"/>
          </a:xfrm>
          <a:solidFill>
            <a:srgbClr val="000000"/>
          </a:solidFill>
          <a:ln w="12700">
            <a:noFill/>
          </a:ln>
          <a:prstGeom prst="rect">
            <a:avLst/>
          </a:prstGeom>
        </p:spPr>
      </p:sp>
      <p:sp>
        <p:nvSpPr>
          <p:cNvPr id="12" name="Text 12"/>
          <p:cNvSpPr>
            <a:spLocks noGrp="1"/>
          </p:cNvSpPr>
          <p:nvPr/>
        </p:nvSpPr>
        <p:spPr>
          <a:xfrm>
            <a:off x="347472" y="1755648"/>
            <a:ext cx="4023360" cy="256032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30" i="1">
                <a:solidFill>
                  <a:srgbClr val="000000"/>
                </a:solidFill>
              </a:rPr>
              <a:t>bots used in training</a:t>
            </a:r>
            <a:endParaRPr lang="en-US" sz="1230"/>
          </a:p>
        </p:txBody>
      </p:sp>
      <p:sp>
        <p:nvSpPr>
          <p:cNvPr id="13" name="Text 13"/>
          <p:cNvSpPr>
            <a:spLocks noGrp="1"/>
          </p:cNvSpPr>
          <p:nvPr/>
        </p:nvSpPr>
        <p:spPr>
          <a:xfrm>
            <a:off x="274320" y="2011680"/>
            <a:ext cx="221284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10">
                <a:solidFill>
                  <a:srgbClr val="000000"/>
                </a:solidFill>
              </a:rPr>
              <a:t>CoacAI</a:t>
            </a:r>
            <a:endParaRPr lang="en-US" sz="1210"/>
          </a:p>
        </p:txBody>
      </p:sp>
      <p:sp>
        <p:nvSpPr>
          <p:cNvPr id="14" name="Cell 14"/>
          <p:cNvSpPr>
            <a:spLocks noGrp="1"/>
          </p:cNvSpPr>
          <p:nvPr/>
        </p:nvSpPr>
        <p:spPr>
          <a:xfrm>
            <a:off x="2606040" y="2020824"/>
            <a:ext cx="242316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15" name="Text 15"/>
          <p:cNvSpPr>
            <a:spLocks noGrp="1"/>
          </p:cNvSpPr>
          <p:nvPr/>
        </p:nvSpPr>
        <p:spPr>
          <a:xfrm>
            <a:off x="2606040" y="2011680"/>
            <a:ext cx="24231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100.0</a:t>
            </a:r>
            <a:endParaRPr lang="en-US" sz="1180" b="1"/>
          </a:p>
        </p:txBody>
      </p:sp>
      <p:sp>
        <p:nvSpPr>
          <p:cNvPr id="16" name="Cell 16"/>
          <p:cNvSpPr>
            <a:spLocks noGrp="1"/>
          </p:cNvSpPr>
          <p:nvPr/>
        </p:nvSpPr>
        <p:spPr>
          <a:xfrm>
            <a:off x="5230368" y="2020824"/>
            <a:ext cx="160020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17" name="Text 17"/>
          <p:cNvSpPr>
            <a:spLocks noGrp="1"/>
          </p:cNvSpPr>
          <p:nvPr/>
        </p:nvSpPr>
        <p:spPr>
          <a:xfrm>
            <a:off x="5230368" y="2011680"/>
            <a:ext cx="160020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96.0</a:t>
            </a:r>
            <a:endParaRPr lang="en-US" sz="1180"/>
          </a:p>
        </p:txBody>
      </p:sp>
      <p:sp>
        <p:nvSpPr>
          <p:cNvPr id="18" name="Cell 18"/>
          <p:cNvSpPr>
            <a:spLocks noGrp="1"/>
          </p:cNvSpPr>
          <p:nvPr/>
        </p:nvSpPr>
        <p:spPr>
          <a:xfrm>
            <a:off x="7269480" y="2020824"/>
            <a:ext cx="196596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19" name="Text 19"/>
          <p:cNvSpPr>
            <a:spLocks noGrp="1"/>
          </p:cNvSpPr>
          <p:nvPr/>
        </p:nvSpPr>
        <p:spPr>
          <a:xfrm>
            <a:off x="7269480" y="2011680"/>
            <a:ext cx="19659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100.0</a:t>
            </a:r>
            <a:endParaRPr lang="en-US" sz="1180" b="1"/>
          </a:p>
        </p:txBody>
      </p:sp>
      <p:sp>
        <p:nvSpPr>
          <p:cNvPr id="20" name="Cell 20"/>
          <p:cNvSpPr>
            <a:spLocks noGrp="1"/>
          </p:cNvSpPr>
          <p:nvPr/>
        </p:nvSpPr>
        <p:spPr>
          <a:xfrm>
            <a:off x="9875520" y="2020824"/>
            <a:ext cx="1938528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21" name="Text 21"/>
          <p:cNvSpPr>
            <a:spLocks noGrp="1"/>
          </p:cNvSpPr>
          <p:nvPr/>
        </p:nvSpPr>
        <p:spPr>
          <a:xfrm>
            <a:off x="9875520" y="2011680"/>
            <a:ext cx="193852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100.0</a:t>
            </a:r>
            <a:endParaRPr lang="en-US" sz="1180" b="1"/>
          </a:p>
        </p:txBody>
      </p:sp>
      <p:sp>
        <p:nvSpPr>
          <p:cNvPr id="22" name="Text 22"/>
          <p:cNvSpPr>
            <a:spLocks noGrp="1"/>
          </p:cNvSpPr>
          <p:nvPr/>
        </p:nvSpPr>
        <p:spPr>
          <a:xfrm>
            <a:off x="274320" y="2258568"/>
            <a:ext cx="221284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10">
                <a:solidFill>
                  <a:srgbClr val="000000"/>
                </a:solidFill>
              </a:rPr>
              <a:t>Mayari</a:t>
            </a:r>
            <a:endParaRPr lang="en-US" sz="1210"/>
          </a:p>
        </p:txBody>
      </p:sp>
      <p:sp>
        <p:nvSpPr>
          <p:cNvPr id="23" name="Cell 23"/>
          <p:cNvSpPr>
            <a:spLocks noGrp="1"/>
          </p:cNvSpPr>
          <p:nvPr/>
        </p:nvSpPr>
        <p:spPr>
          <a:xfrm>
            <a:off x="2606040" y="2267712"/>
            <a:ext cx="242316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24" name="Text 24"/>
          <p:cNvSpPr>
            <a:spLocks noGrp="1"/>
          </p:cNvSpPr>
          <p:nvPr/>
        </p:nvSpPr>
        <p:spPr>
          <a:xfrm>
            <a:off x="2606040" y="2258568"/>
            <a:ext cx="24231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100.0</a:t>
            </a:r>
            <a:endParaRPr lang="en-US" sz="1180" b="1"/>
          </a:p>
        </p:txBody>
      </p:sp>
      <p:sp>
        <p:nvSpPr>
          <p:cNvPr id="25" name="Cell 25"/>
          <p:cNvSpPr>
            <a:spLocks noGrp="1"/>
          </p:cNvSpPr>
          <p:nvPr/>
        </p:nvSpPr>
        <p:spPr>
          <a:xfrm>
            <a:off x="5230368" y="2267712"/>
            <a:ext cx="1600200" cy="219456"/>
          </a:xfrm>
          <a:solidFill>
            <a:srgbClr val="FCF2E0"/>
          </a:solidFill>
          <a:ln w="12700">
            <a:noFill/>
          </a:ln>
          <a:prstGeom prst="rect">
            <a:avLst/>
          </a:prstGeom>
        </p:spPr>
      </p:sp>
      <p:sp>
        <p:nvSpPr>
          <p:cNvPr id="26" name="Text 26"/>
          <p:cNvSpPr>
            <a:spLocks noGrp="1"/>
          </p:cNvSpPr>
          <p:nvPr/>
        </p:nvSpPr>
        <p:spPr>
          <a:xfrm>
            <a:off x="5230368" y="2258568"/>
            <a:ext cx="160020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67.3</a:t>
            </a:r>
            <a:endParaRPr lang="en-US" sz="1180"/>
          </a:p>
        </p:txBody>
      </p:sp>
      <p:sp>
        <p:nvSpPr>
          <p:cNvPr id="27" name="Cell 27"/>
          <p:cNvSpPr>
            <a:spLocks noGrp="1"/>
          </p:cNvSpPr>
          <p:nvPr/>
        </p:nvSpPr>
        <p:spPr>
          <a:xfrm>
            <a:off x="7269480" y="2267712"/>
            <a:ext cx="196596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28" name="Text 28"/>
          <p:cNvSpPr>
            <a:spLocks noGrp="1"/>
          </p:cNvSpPr>
          <p:nvPr/>
        </p:nvSpPr>
        <p:spPr>
          <a:xfrm>
            <a:off x="7269480" y="2258568"/>
            <a:ext cx="19659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100.0</a:t>
            </a:r>
            <a:endParaRPr lang="en-US" sz="1180" b="1"/>
          </a:p>
        </p:txBody>
      </p:sp>
      <p:sp>
        <p:nvSpPr>
          <p:cNvPr id="29" name="Cell 29"/>
          <p:cNvSpPr>
            <a:spLocks noGrp="1"/>
          </p:cNvSpPr>
          <p:nvPr/>
        </p:nvSpPr>
        <p:spPr>
          <a:xfrm>
            <a:off x="9875520" y="2267712"/>
            <a:ext cx="1938528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30" name="Text 30"/>
          <p:cNvSpPr>
            <a:spLocks noGrp="1"/>
          </p:cNvSpPr>
          <p:nvPr/>
        </p:nvSpPr>
        <p:spPr>
          <a:xfrm>
            <a:off x="9875520" y="2258568"/>
            <a:ext cx="193852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100.0</a:t>
            </a:r>
            <a:endParaRPr lang="en-US" sz="1180" b="1"/>
          </a:p>
        </p:txBody>
      </p:sp>
      <p:sp>
        <p:nvSpPr>
          <p:cNvPr id="31" name="Text 31"/>
          <p:cNvSpPr>
            <a:spLocks noGrp="1"/>
          </p:cNvSpPr>
          <p:nvPr/>
        </p:nvSpPr>
        <p:spPr>
          <a:xfrm>
            <a:off x="347472" y="2505456"/>
            <a:ext cx="4023360" cy="256032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30" i="1">
                <a:solidFill>
                  <a:srgbClr val="000000"/>
                </a:solidFill>
              </a:rPr>
              <a:t>Built-in bots</a:t>
            </a:r>
            <a:endParaRPr lang="en-US" sz="1230"/>
          </a:p>
        </p:txBody>
      </p:sp>
      <p:sp>
        <p:nvSpPr>
          <p:cNvPr id="32" name="Text 32"/>
          <p:cNvSpPr>
            <a:spLocks noGrp="1"/>
          </p:cNvSpPr>
          <p:nvPr/>
        </p:nvSpPr>
        <p:spPr>
          <a:xfrm>
            <a:off x="274320" y="2761488"/>
            <a:ext cx="221284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10">
                <a:solidFill>
                  <a:srgbClr val="000000"/>
                </a:solidFill>
              </a:rPr>
              <a:t>WorkerRushAI</a:t>
            </a:r>
            <a:endParaRPr lang="en-US" sz="1210"/>
          </a:p>
        </p:txBody>
      </p:sp>
      <p:sp>
        <p:nvSpPr>
          <p:cNvPr id="33" name="Cell 33"/>
          <p:cNvSpPr>
            <a:spLocks noGrp="1"/>
          </p:cNvSpPr>
          <p:nvPr/>
        </p:nvSpPr>
        <p:spPr>
          <a:xfrm>
            <a:off x="2606040" y="2770632"/>
            <a:ext cx="2423160" cy="219456"/>
          </a:xfrm>
          <a:solidFill>
            <a:srgbClr val="FAE6E6"/>
          </a:solidFill>
          <a:ln w="12700">
            <a:noFill/>
          </a:ln>
          <a:prstGeom prst="rect">
            <a:avLst/>
          </a:prstGeom>
        </p:spPr>
      </p:sp>
      <p:sp>
        <p:nvSpPr>
          <p:cNvPr id="34" name="Text 34"/>
          <p:cNvSpPr>
            <a:spLocks noGrp="1"/>
          </p:cNvSpPr>
          <p:nvPr/>
        </p:nvSpPr>
        <p:spPr>
          <a:xfrm>
            <a:off x="2606040" y="2761488"/>
            <a:ext cx="24231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31.0</a:t>
            </a:r>
            <a:endParaRPr lang="en-US" sz="1180"/>
          </a:p>
        </p:txBody>
      </p:sp>
      <p:sp>
        <p:nvSpPr>
          <p:cNvPr id="35" name="Cell 35"/>
          <p:cNvSpPr>
            <a:spLocks noGrp="1"/>
          </p:cNvSpPr>
          <p:nvPr/>
        </p:nvSpPr>
        <p:spPr>
          <a:xfrm>
            <a:off x="5230368" y="2770632"/>
            <a:ext cx="160020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36" name="Text 36"/>
          <p:cNvSpPr>
            <a:spLocks noGrp="1"/>
          </p:cNvSpPr>
          <p:nvPr/>
        </p:nvSpPr>
        <p:spPr>
          <a:xfrm>
            <a:off x="5230368" y="2761488"/>
            <a:ext cx="160020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100.0</a:t>
            </a:r>
            <a:endParaRPr lang="en-US" sz="1180" b="1"/>
          </a:p>
        </p:txBody>
      </p:sp>
      <p:sp>
        <p:nvSpPr>
          <p:cNvPr id="37" name="Cell 37"/>
          <p:cNvSpPr>
            <a:spLocks noGrp="1"/>
          </p:cNvSpPr>
          <p:nvPr/>
        </p:nvSpPr>
        <p:spPr>
          <a:xfrm>
            <a:off x="7269480" y="2770632"/>
            <a:ext cx="1965960" cy="219456"/>
          </a:xfrm>
          <a:solidFill>
            <a:srgbClr val="FAE6E6"/>
          </a:solidFill>
          <a:ln w="12700">
            <a:noFill/>
          </a:ln>
          <a:prstGeom prst="rect">
            <a:avLst/>
          </a:prstGeom>
        </p:spPr>
      </p:sp>
      <p:sp>
        <p:nvSpPr>
          <p:cNvPr id="38" name="Text 38"/>
          <p:cNvSpPr>
            <a:spLocks noGrp="1"/>
          </p:cNvSpPr>
          <p:nvPr/>
        </p:nvSpPr>
        <p:spPr>
          <a:xfrm>
            <a:off x="7269480" y="2761488"/>
            <a:ext cx="19659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35.0</a:t>
            </a:r>
            <a:endParaRPr lang="en-US" sz="1180"/>
          </a:p>
        </p:txBody>
      </p:sp>
      <p:sp>
        <p:nvSpPr>
          <p:cNvPr id="39" name="Cell 39"/>
          <p:cNvSpPr>
            <a:spLocks noGrp="1"/>
          </p:cNvSpPr>
          <p:nvPr/>
        </p:nvSpPr>
        <p:spPr>
          <a:xfrm>
            <a:off x="9875520" y="2770632"/>
            <a:ext cx="1938528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40" name="Text 40"/>
          <p:cNvSpPr>
            <a:spLocks noGrp="1"/>
          </p:cNvSpPr>
          <p:nvPr/>
        </p:nvSpPr>
        <p:spPr>
          <a:xfrm>
            <a:off x="9875520" y="2761488"/>
            <a:ext cx="193852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99.5</a:t>
            </a:r>
            <a:endParaRPr lang="en-US" sz="1180"/>
          </a:p>
        </p:txBody>
      </p:sp>
      <p:sp>
        <p:nvSpPr>
          <p:cNvPr id="41" name="Text 41"/>
          <p:cNvSpPr>
            <a:spLocks noGrp="1"/>
          </p:cNvSpPr>
          <p:nvPr/>
        </p:nvSpPr>
        <p:spPr>
          <a:xfrm>
            <a:off x="274320" y="3008376"/>
            <a:ext cx="221284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10">
                <a:solidFill>
                  <a:srgbClr val="000000"/>
                </a:solidFill>
              </a:rPr>
              <a:t>PassiveAI</a:t>
            </a:r>
            <a:endParaRPr lang="en-US" sz="1210"/>
          </a:p>
        </p:txBody>
      </p:sp>
      <p:sp>
        <p:nvSpPr>
          <p:cNvPr id="42" name="Cell 42"/>
          <p:cNvSpPr>
            <a:spLocks noGrp="1"/>
          </p:cNvSpPr>
          <p:nvPr/>
        </p:nvSpPr>
        <p:spPr>
          <a:xfrm>
            <a:off x="2606040" y="3017520"/>
            <a:ext cx="242316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43" name="Text 43"/>
          <p:cNvSpPr>
            <a:spLocks noGrp="1"/>
          </p:cNvSpPr>
          <p:nvPr/>
        </p:nvSpPr>
        <p:spPr>
          <a:xfrm>
            <a:off x="2606040" y="3008376"/>
            <a:ext cx="24231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100.0</a:t>
            </a:r>
            <a:endParaRPr lang="en-US" sz="1180" b="1"/>
          </a:p>
        </p:txBody>
      </p:sp>
      <p:sp>
        <p:nvSpPr>
          <p:cNvPr id="44" name="Cell 44"/>
          <p:cNvSpPr>
            <a:spLocks noGrp="1"/>
          </p:cNvSpPr>
          <p:nvPr/>
        </p:nvSpPr>
        <p:spPr>
          <a:xfrm>
            <a:off x="5230368" y="3017520"/>
            <a:ext cx="160020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45" name="Text 45"/>
          <p:cNvSpPr>
            <a:spLocks noGrp="1"/>
          </p:cNvSpPr>
          <p:nvPr/>
        </p:nvSpPr>
        <p:spPr>
          <a:xfrm>
            <a:off x="5230368" y="3008376"/>
            <a:ext cx="160020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99.7</a:t>
            </a:r>
            <a:endParaRPr lang="en-US" sz="1180"/>
          </a:p>
        </p:txBody>
      </p:sp>
      <p:sp>
        <p:nvSpPr>
          <p:cNvPr id="46" name="Cell 46"/>
          <p:cNvSpPr>
            <a:spLocks noGrp="1"/>
          </p:cNvSpPr>
          <p:nvPr/>
        </p:nvSpPr>
        <p:spPr>
          <a:xfrm>
            <a:off x="7269480" y="3017520"/>
            <a:ext cx="196596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47" name="Text 47"/>
          <p:cNvSpPr>
            <a:spLocks noGrp="1"/>
          </p:cNvSpPr>
          <p:nvPr/>
        </p:nvSpPr>
        <p:spPr>
          <a:xfrm>
            <a:off x="7269480" y="3008376"/>
            <a:ext cx="19659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100.0</a:t>
            </a:r>
            <a:endParaRPr lang="en-US" sz="1180" b="1"/>
          </a:p>
        </p:txBody>
      </p:sp>
      <p:sp>
        <p:nvSpPr>
          <p:cNvPr id="48" name="Cell 48"/>
          <p:cNvSpPr>
            <a:spLocks noGrp="1"/>
          </p:cNvSpPr>
          <p:nvPr/>
        </p:nvSpPr>
        <p:spPr>
          <a:xfrm>
            <a:off x="9875520" y="3017520"/>
            <a:ext cx="1938528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49" name="Text 49"/>
          <p:cNvSpPr>
            <a:spLocks noGrp="1"/>
          </p:cNvSpPr>
          <p:nvPr/>
        </p:nvSpPr>
        <p:spPr>
          <a:xfrm>
            <a:off x="9875520" y="3008376"/>
            <a:ext cx="193852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100.0</a:t>
            </a:r>
            <a:endParaRPr lang="en-US" sz="1180" b="1"/>
          </a:p>
        </p:txBody>
      </p:sp>
      <p:sp>
        <p:nvSpPr>
          <p:cNvPr id="50" name="Text 50"/>
          <p:cNvSpPr>
            <a:spLocks noGrp="1"/>
          </p:cNvSpPr>
          <p:nvPr/>
        </p:nvSpPr>
        <p:spPr>
          <a:xfrm>
            <a:off x="274320" y="3255264"/>
            <a:ext cx="221284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10">
                <a:solidFill>
                  <a:srgbClr val="000000"/>
                </a:solidFill>
              </a:rPr>
              <a:t>LightRushAI</a:t>
            </a:r>
            <a:endParaRPr lang="en-US" sz="1210"/>
          </a:p>
        </p:txBody>
      </p:sp>
      <p:sp>
        <p:nvSpPr>
          <p:cNvPr id="51" name="Cell 51"/>
          <p:cNvSpPr>
            <a:spLocks noGrp="1"/>
          </p:cNvSpPr>
          <p:nvPr/>
        </p:nvSpPr>
        <p:spPr>
          <a:xfrm>
            <a:off x="2606040" y="3264408"/>
            <a:ext cx="242316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52" name="Text 52"/>
          <p:cNvSpPr>
            <a:spLocks noGrp="1"/>
          </p:cNvSpPr>
          <p:nvPr/>
        </p:nvSpPr>
        <p:spPr>
          <a:xfrm>
            <a:off x="2606040" y="3255264"/>
            <a:ext cx="24231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100.0</a:t>
            </a:r>
            <a:endParaRPr lang="en-US" sz="1180" b="1"/>
          </a:p>
        </p:txBody>
      </p:sp>
      <p:sp>
        <p:nvSpPr>
          <p:cNvPr id="53" name="Cell 53"/>
          <p:cNvSpPr>
            <a:spLocks noGrp="1"/>
          </p:cNvSpPr>
          <p:nvPr/>
        </p:nvSpPr>
        <p:spPr>
          <a:xfrm>
            <a:off x="5230368" y="3264408"/>
            <a:ext cx="160020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54" name="Text 54"/>
          <p:cNvSpPr>
            <a:spLocks noGrp="1"/>
          </p:cNvSpPr>
          <p:nvPr/>
        </p:nvSpPr>
        <p:spPr>
          <a:xfrm>
            <a:off x="5230368" y="3255264"/>
            <a:ext cx="160020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98.0</a:t>
            </a:r>
            <a:endParaRPr lang="en-US" sz="1180"/>
          </a:p>
        </p:txBody>
      </p:sp>
      <p:sp>
        <p:nvSpPr>
          <p:cNvPr id="55" name="Cell 55"/>
          <p:cNvSpPr>
            <a:spLocks noGrp="1"/>
          </p:cNvSpPr>
          <p:nvPr/>
        </p:nvSpPr>
        <p:spPr>
          <a:xfrm>
            <a:off x="7269480" y="3264408"/>
            <a:ext cx="196596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56" name="Text 56"/>
          <p:cNvSpPr>
            <a:spLocks noGrp="1"/>
          </p:cNvSpPr>
          <p:nvPr/>
        </p:nvSpPr>
        <p:spPr>
          <a:xfrm>
            <a:off x="7269480" y="3255264"/>
            <a:ext cx="19659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100.0</a:t>
            </a:r>
            <a:endParaRPr lang="en-US" sz="1180" b="1"/>
          </a:p>
        </p:txBody>
      </p:sp>
      <p:sp>
        <p:nvSpPr>
          <p:cNvPr id="57" name="Cell 57"/>
          <p:cNvSpPr>
            <a:spLocks noGrp="1"/>
          </p:cNvSpPr>
          <p:nvPr/>
        </p:nvSpPr>
        <p:spPr>
          <a:xfrm>
            <a:off x="9875520" y="3264408"/>
            <a:ext cx="1938528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58" name="Text 58"/>
          <p:cNvSpPr>
            <a:spLocks noGrp="1"/>
          </p:cNvSpPr>
          <p:nvPr/>
        </p:nvSpPr>
        <p:spPr>
          <a:xfrm>
            <a:off x="9875520" y="3255264"/>
            <a:ext cx="193852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100.0</a:t>
            </a:r>
            <a:endParaRPr lang="en-US" sz="1180" b="1"/>
          </a:p>
        </p:txBody>
      </p:sp>
      <p:sp>
        <p:nvSpPr>
          <p:cNvPr id="59" name="Text 59"/>
          <p:cNvSpPr>
            <a:spLocks noGrp="1"/>
          </p:cNvSpPr>
          <p:nvPr/>
        </p:nvSpPr>
        <p:spPr>
          <a:xfrm>
            <a:off x="274320" y="3502152"/>
            <a:ext cx="221284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10">
                <a:solidFill>
                  <a:srgbClr val="000000"/>
                </a:solidFill>
              </a:rPr>
              <a:t>RandomAI</a:t>
            </a:r>
            <a:endParaRPr lang="en-US" sz="1210"/>
          </a:p>
        </p:txBody>
      </p:sp>
      <p:sp>
        <p:nvSpPr>
          <p:cNvPr id="60" name="Cell 60"/>
          <p:cNvSpPr>
            <a:spLocks noGrp="1"/>
          </p:cNvSpPr>
          <p:nvPr/>
        </p:nvSpPr>
        <p:spPr>
          <a:xfrm>
            <a:off x="2606040" y="3511296"/>
            <a:ext cx="242316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61" name="Text 61"/>
          <p:cNvSpPr>
            <a:spLocks noGrp="1"/>
          </p:cNvSpPr>
          <p:nvPr/>
        </p:nvSpPr>
        <p:spPr>
          <a:xfrm>
            <a:off x="2606040" y="3502152"/>
            <a:ext cx="24231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100.0</a:t>
            </a:r>
            <a:endParaRPr lang="en-US" sz="1180" b="1"/>
          </a:p>
        </p:txBody>
      </p:sp>
      <p:sp>
        <p:nvSpPr>
          <p:cNvPr id="62" name="Cell 62"/>
          <p:cNvSpPr>
            <a:spLocks noGrp="1"/>
          </p:cNvSpPr>
          <p:nvPr/>
        </p:nvSpPr>
        <p:spPr>
          <a:xfrm>
            <a:off x="5230368" y="3511296"/>
            <a:ext cx="160020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63" name="Text 63"/>
          <p:cNvSpPr>
            <a:spLocks noGrp="1"/>
          </p:cNvSpPr>
          <p:nvPr/>
        </p:nvSpPr>
        <p:spPr>
          <a:xfrm>
            <a:off x="5230368" y="3502152"/>
            <a:ext cx="160020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99.0</a:t>
            </a:r>
            <a:endParaRPr lang="en-US" sz="1180"/>
          </a:p>
        </p:txBody>
      </p:sp>
      <p:sp>
        <p:nvSpPr>
          <p:cNvPr id="64" name="Cell 64"/>
          <p:cNvSpPr>
            <a:spLocks noGrp="1"/>
          </p:cNvSpPr>
          <p:nvPr/>
        </p:nvSpPr>
        <p:spPr>
          <a:xfrm>
            <a:off x="7269480" y="3511296"/>
            <a:ext cx="196596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65" name="Text 65"/>
          <p:cNvSpPr>
            <a:spLocks noGrp="1"/>
          </p:cNvSpPr>
          <p:nvPr/>
        </p:nvSpPr>
        <p:spPr>
          <a:xfrm>
            <a:off x="7269480" y="3502152"/>
            <a:ext cx="19659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100.0</a:t>
            </a:r>
            <a:endParaRPr lang="en-US" sz="1180" b="1"/>
          </a:p>
        </p:txBody>
      </p:sp>
      <p:sp>
        <p:nvSpPr>
          <p:cNvPr id="66" name="Cell 66"/>
          <p:cNvSpPr>
            <a:spLocks noGrp="1"/>
          </p:cNvSpPr>
          <p:nvPr/>
        </p:nvSpPr>
        <p:spPr>
          <a:xfrm>
            <a:off x="9875520" y="3511296"/>
            <a:ext cx="1938528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67" name="Text 67"/>
          <p:cNvSpPr>
            <a:spLocks noGrp="1"/>
          </p:cNvSpPr>
          <p:nvPr/>
        </p:nvSpPr>
        <p:spPr>
          <a:xfrm>
            <a:off x="9875520" y="3502152"/>
            <a:ext cx="193852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100.0</a:t>
            </a:r>
            <a:endParaRPr lang="en-US" sz="1180" b="1"/>
          </a:p>
        </p:txBody>
      </p:sp>
      <p:sp>
        <p:nvSpPr>
          <p:cNvPr id="68" name="Text 68"/>
          <p:cNvSpPr>
            <a:spLocks noGrp="1"/>
          </p:cNvSpPr>
          <p:nvPr/>
        </p:nvSpPr>
        <p:spPr>
          <a:xfrm>
            <a:off x="274320" y="3749040"/>
            <a:ext cx="221284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10">
                <a:solidFill>
                  <a:srgbClr val="000000"/>
                </a:solidFill>
              </a:rPr>
              <a:t>RandomBiasedAI</a:t>
            </a:r>
            <a:endParaRPr lang="en-US" sz="1210"/>
          </a:p>
        </p:txBody>
      </p:sp>
      <p:sp>
        <p:nvSpPr>
          <p:cNvPr id="69" name="Cell 69"/>
          <p:cNvSpPr>
            <a:spLocks noGrp="1"/>
          </p:cNvSpPr>
          <p:nvPr/>
        </p:nvSpPr>
        <p:spPr>
          <a:xfrm>
            <a:off x="2606040" y="3758184"/>
            <a:ext cx="2423160" cy="219456"/>
          </a:xfrm>
          <a:solidFill>
            <a:srgbClr val="E8F5E8"/>
          </a:solidFill>
          <a:ln w="12700">
            <a:noFill/>
          </a:ln>
          <a:prstGeom prst="rect">
            <a:avLst/>
          </a:prstGeom>
        </p:spPr>
      </p:sp>
      <p:sp>
        <p:nvSpPr>
          <p:cNvPr id="70" name="Text 70"/>
          <p:cNvSpPr>
            <a:spLocks noGrp="1"/>
          </p:cNvSpPr>
          <p:nvPr/>
        </p:nvSpPr>
        <p:spPr>
          <a:xfrm>
            <a:off x="2606040" y="3749040"/>
            <a:ext cx="24231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91.0</a:t>
            </a:r>
            <a:endParaRPr lang="en-US" sz="1180"/>
          </a:p>
        </p:txBody>
      </p:sp>
      <p:sp>
        <p:nvSpPr>
          <p:cNvPr id="71" name="Cell 71"/>
          <p:cNvSpPr>
            <a:spLocks noGrp="1"/>
          </p:cNvSpPr>
          <p:nvPr/>
        </p:nvSpPr>
        <p:spPr>
          <a:xfrm>
            <a:off x="5230368" y="3758184"/>
            <a:ext cx="1600200" cy="219456"/>
          </a:xfrm>
          <a:solidFill>
            <a:srgbClr val="F7FAE6"/>
          </a:solidFill>
          <a:ln w="12700">
            <a:noFill/>
          </a:ln>
          <a:prstGeom prst="rect">
            <a:avLst/>
          </a:prstGeom>
        </p:spPr>
      </p:sp>
      <p:sp>
        <p:nvSpPr>
          <p:cNvPr id="72" name="Text 72"/>
          <p:cNvSpPr>
            <a:spLocks noGrp="1"/>
          </p:cNvSpPr>
          <p:nvPr/>
        </p:nvSpPr>
        <p:spPr>
          <a:xfrm>
            <a:off x="5230368" y="3749040"/>
            <a:ext cx="160020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79.0</a:t>
            </a:r>
            <a:endParaRPr lang="en-US" sz="1180"/>
          </a:p>
        </p:txBody>
      </p:sp>
      <p:sp>
        <p:nvSpPr>
          <p:cNvPr id="73" name="Cell 73"/>
          <p:cNvSpPr>
            <a:spLocks noGrp="1"/>
          </p:cNvSpPr>
          <p:nvPr/>
        </p:nvSpPr>
        <p:spPr>
          <a:xfrm>
            <a:off x="7269480" y="3758184"/>
            <a:ext cx="196596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74" name="Text 74"/>
          <p:cNvSpPr>
            <a:spLocks noGrp="1"/>
          </p:cNvSpPr>
          <p:nvPr/>
        </p:nvSpPr>
        <p:spPr>
          <a:xfrm>
            <a:off x="7269480" y="3749040"/>
            <a:ext cx="19659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97.0</a:t>
            </a:r>
            <a:endParaRPr lang="en-US" sz="1180"/>
          </a:p>
        </p:txBody>
      </p:sp>
      <p:sp>
        <p:nvSpPr>
          <p:cNvPr id="75" name="Cell 75"/>
          <p:cNvSpPr>
            <a:spLocks noGrp="1"/>
          </p:cNvSpPr>
          <p:nvPr/>
        </p:nvSpPr>
        <p:spPr>
          <a:xfrm>
            <a:off x="9875520" y="3758184"/>
            <a:ext cx="1938528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76" name="Text 76"/>
          <p:cNvSpPr>
            <a:spLocks noGrp="1"/>
          </p:cNvSpPr>
          <p:nvPr/>
        </p:nvSpPr>
        <p:spPr>
          <a:xfrm>
            <a:off x="9875520" y="3749040"/>
            <a:ext cx="193852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97.5</a:t>
            </a:r>
            <a:endParaRPr lang="en-US" sz="1180" b="1"/>
          </a:p>
        </p:txBody>
      </p:sp>
      <p:sp>
        <p:nvSpPr>
          <p:cNvPr id="77" name="Text 77"/>
          <p:cNvSpPr>
            <a:spLocks noGrp="1"/>
          </p:cNvSpPr>
          <p:nvPr/>
        </p:nvSpPr>
        <p:spPr>
          <a:xfrm>
            <a:off x="347472" y="3995928"/>
            <a:ext cx="4023360" cy="256032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30" i="1">
                <a:solidFill>
                  <a:srgbClr val="000000"/>
                </a:solidFill>
              </a:rPr>
              <a:t>Other bots</a:t>
            </a:r>
            <a:endParaRPr lang="en-US" sz="1230"/>
          </a:p>
        </p:txBody>
      </p:sp>
      <p:sp>
        <p:nvSpPr>
          <p:cNvPr id="78" name="Text 78"/>
          <p:cNvSpPr>
            <a:spLocks noGrp="1"/>
          </p:cNvSpPr>
          <p:nvPr/>
        </p:nvSpPr>
        <p:spPr>
          <a:xfrm>
            <a:off x="274320" y="4251960"/>
            <a:ext cx="221284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10">
                <a:solidFill>
                  <a:srgbClr val="000000"/>
                </a:solidFill>
              </a:rPr>
              <a:t>Rojo</a:t>
            </a:r>
            <a:endParaRPr lang="en-US" sz="1210"/>
          </a:p>
        </p:txBody>
      </p:sp>
      <p:sp>
        <p:nvSpPr>
          <p:cNvPr id="79" name="Cell 79"/>
          <p:cNvSpPr>
            <a:spLocks noGrp="1"/>
          </p:cNvSpPr>
          <p:nvPr/>
        </p:nvSpPr>
        <p:spPr>
          <a:xfrm>
            <a:off x="2606040" y="4261104"/>
            <a:ext cx="242316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80" name="Text 80"/>
          <p:cNvSpPr>
            <a:spLocks noGrp="1"/>
          </p:cNvSpPr>
          <p:nvPr/>
        </p:nvSpPr>
        <p:spPr>
          <a:xfrm>
            <a:off x="2606040" y="4251960"/>
            <a:ext cx="24231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100.0</a:t>
            </a:r>
            <a:endParaRPr lang="en-US" sz="1180" b="1"/>
          </a:p>
        </p:txBody>
      </p:sp>
      <p:sp>
        <p:nvSpPr>
          <p:cNvPr id="81" name="Cell 81"/>
          <p:cNvSpPr>
            <a:spLocks noGrp="1"/>
          </p:cNvSpPr>
          <p:nvPr/>
        </p:nvSpPr>
        <p:spPr>
          <a:xfrm>
            <a:off x="5230368" y="4261104"/>
            <a:ext cx="1600200" cy="219456"/>
          </a:xfrm>
          <a:solidFill>
            <a:srgbClr val="F7FAE6"/>
          </a:solidFill>
          <a:ln w="12700">
            <a:noFill/>
          </a:ln>
          <a:prstGeom prst="rect">
            <a:avLst/>
          </a:prstGeom>
        </p:spPr>
      </p:sp>
      <p:sp>
        <p:nvSpPr>
          <p:cNvPr id="82" name="Text 82"/>
          <p:cNvSpPr>
            <a:spLocks noGrp="1"/>
          </p:cNvSpPr>
          <p:nvPr/>
        </p:nvSpPr>
        <p:spPr>
          <a:xfrm>
            <a:off x="5230368" y="4251960"/>
            <a:ext cx="160020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81.0</a:t>
            </a:r>
            <a:endParaRPr lang="en-US" sz="1180"/>
          </a:p>
        </p:txBody>
      </p:sp>
      <p:sp>
        <p:nvSpPr>
          <p:cNvPr id="83" name="Cell 83"/>
          <p:cNvSpPr>
            <a:spLocks noGrp="1"/>
          </p:cNvSpPr>
          <p:nvPr/>
        </p:nvSpPr>
        <p:spPr>
          <a:xfrm>
            <a:off x="7269480" y="4261104"/>
            <a:ext cx="196596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84" name="Text 84"/>
          <p:cNvSpPr>
            <a:spLocks noGrp="1"/>
          </p:cNvSpPr>
          <p:nvPr/>
        </p:nvSpPr>
        <p:spPr>
          <a:xfrm>
            <a:off x="7269480" y="4251960"/>
            <a:ext cx="19659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100.0</a:t>
            </a:r>
            <a:endParaRPr lang="en-US" sz="1180" b="1"/>
          </a:p>
        </p:txBody>
      </p:sp>
      <p:sp>
        <p:nvSpPr>
          <p:cNvPr id="85" name="Cell 85"/>
          <p:cNvSpPr>
            <a:spLocks noGrp="1"/>
          </p:cNvSpPr>
          <p:nvPr/>
        </p:nvSpPr>
        <p:spPr>
          <a:xfrm>
            <a:off x="9875520" y="4261104"/>
            <a:ext cx="1938528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86" name="Text 86"/>
          <p:cNvSpPr>
            <a:spLocks noGrp="1"/>
          </p:cNvSpPr>
          <p:nvPr/>
        </p:nvSpPr>
        <p:spPr>
          <a:xfrm>
            <a:off x="9875520" y="4251960"/>
            <a:ext cx="193852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100.0</a:t>
            </a:r>
            <a:endParaRPr lang="en-US" sz="1180" b="1"/>
          </a:p>
        </p:txBody>
      </p:sp>
      <p:sp>
        <p:nvSpPr>
          <p:cNvPr id="87" name="Text 87"/>
          <p:cNvSpPr>
            <a:spLocks noGrp="1"/>
          </p:cNvSpPr>
          <p:nvPr/>
        </p:nvSpPr>
        <p:spPr>
          <a:xfrm>
            <a:off x="274320" y="4498848"/>
            <a:ext cx="221284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10">
                <a:solidFill>
                  <a:srgbClr val="000000"/>
                </a:solidFill>
              </a:rPr>
              <a:t>MixedBot</a:t>
            </a:r>
            <a:endParaRPr lang="en-US" sz="1210"/>
          </a:p>
        </p:txBody>
      </p:sp>
      <p:sp>
        <p:nvSpPr>
          <p:cNvPr id="88" name="Cell 88"/>
          <p:cNvSpPr>
            <a:spLocks noGrp="1"/>
          </p:cNvSpPr>
          <p:nvPr/>
        </p:nvSpPr>
        <p:spPr>
          <a:xfrm>
            <a:off x="2606040" y="4507992"/>
            <a:ext cx="2423160" cy="219456"/>
          </a:xfrm>
          <a:solidFill>
            <a:srgbClr val="FAE6E6"/>
          </a:solidFill>
          <a:ln w="12700">
            <a:noFill/>
          </a:ln>
          <a:prstGeom prst="rect">
            <a:avLst/>
          </a:prstGeom>
        </p:spPr>
      </p:sp>
      <p:sp>
        <p:nvSpPr>
          <p:cNvPr id="89" name="Text 89"/>
          <p:cNvSpPr>
            <a:spLocks noGrp="1"/>
          </p:cNvSpPr>
          <p:nvPr/>
        </p:nvSpPr>
        <p:spPr>
          <a:xfrm>
            <a:off x="2606040" y="4498848"/>
            <a:ext cx="24231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45.0</a:t>
            </a:r>
            <a:endParaRPr lang="en-US" sz="1180"/>
          </a:p>
        </p:txBody>
      </p:sp>
      <p:sp>
        <p:nvSpPr>
          <p:cNvPr id="90" name="Cell 90"/>
          <p:cNvSpPr>
            <a:spLocks noGrp="1"/>
          </p:cNvSpPr>
          <p:nvPr/>
        </p:nvSpPr>
        <p:spPr>
          <a:xfrm>
            <a:off x="5230368" y="4507992"/>
            <a:ext cx="1600200" cy="219456"/>
          </a:xfrm>
          <a:solidFill>
            <a:srgbClr val="FAE6E6"/>
          </a:solidFill>
          <a:ln w="12700">
            <a:noFill/>
          </a:ln>
          <a:prstGeom prst="rect">
            <a:avLst/>
          </a:prstGeom>
        </p:spPr>
      </p:sp>
      <p:sp>
        <p:nvSpPr>
          <p:cNvPr id="91" name="Text 91"/>
          <p:cNvSpPr>
            <a:spLocks noGrp="1"/>
          </p:cNvSpPr>
          <p:nvPr/>
        </p:nvSpPr>
        <p:spPr>
          <a:xfrm>
            <a:off x="5230368" y="4498848"/>
            <a:ext cx="160020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43.3</a:t>
            </a:r>
            <a:endParaRPr lang="en-US" sz="1180"/>
          </a:p>
        </p:txBody>
      </p:sp>
      <p:sp>
        <p:nvSpPr>
          <p:cNvPr id="92" name="Cell 92"/>
          <p:cNvSpPr>
            <a:spLocks noGrp="1"/>
          </p:cNvSpPr>
          <p:nvPr/>
        </p:nvSpPr>
        <p:spPr>
          <a:xfrm>
            <a:off x="7269480" y="4507992"/>
            <a:ext cx="1965960" cy="219456"/>
          </a:xfrm>
          <a:solidFill>
            <a:srgbClr val="FCF2E0"/>
          </a:solidFill>
          <a:ln w="12700">
            <a:noFill/>
          </a:ln>
          <a:prstGeom prst="rect">
            <a:avLst/>
          </a:prstGeom>
        </p:spPr>
      </p:sp>
      <p:sp>
        <p:nvSpPr>
          <p:cNvPr id="93" name="Text 93"/>
          <p:cNvSpPr>
            <a:spLocks noGrp="1"/>
          </p:cNvSpPr>
          <p:nvPr/>
        </p:nvSpPr>
        <p:spPr>
          <a:xfrm>
            <a:off x="7269480" y="4498848"/>
            <a:ext cx="19659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57.0</a:t>
            </a:r>
            <a:endParaRPr lang="en-US" sz="1180"/>
          </a:p>
        </p:txBody>
      </p:sp>
      <p:sp>
        <p:nvSpPr>
          <p:cNvPr id="94" name="Cell 94"/>
          <p:cNvSpPr>
            <a:spLocks noGrp="1"/>
          </p:cNvSpPr>
          <p:nvPr/>
        </p:nvSpPr>
        <p:spPr>
          <a:xfrm>
            <a:off x="9875520" y="4507992"/>
            <a:ext cx="1938528" cy="219456"/>
          </a:xfrm>
          <a:solidFill>
            <a:srgbClr val="FCF2E0"/>
          </a:solidFill>
          <a:ln w="12700">
            <a:noFill/>
          </a:ln>
          <a:prstGeom prst="rect">
            <a:avLst/>
          </a:prstGeom>
        </p:spPr>
      </p:sp>
      <p:sp>
        <p:nvSpPr>
          <p:cNvPr id="95" name="Text 95"/>
          <p:cNvSpPr>
            <a:spLocks noGrp="1"/>
          </p:cNvSpPr>
          <p:nvPr/>
        </p:nvSpPr>
        <p:spPr>
          <a:xfrm>
            <a:off x="9875520" y="4498848"/>
            <a:ext cx="193852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60.5</a:t>
            </a:r>
            <a:endParaRPr lang="en-US" sz="1180" b="1"/>
          </a:p>
        </p:txBody>
      </p:sp>
      <p:sp>
        <p:nvSpPr>
          <p:cNvPr id="96" name="Text 96"/>
          <p:cNvSpPr>
            <a:spLocks noGrp="1"/>
          </p:cNvSpPr>
          <p:nvPr/>
        </p:nvSpPr>
        <p:spPr>
          <a:xfrm>
            <a:off x="274320" y="4745736"/>
            <a:ext cx="221284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10">
                <a:solidFill>
                  <a:srgbClr val="000000"/>
                </a:solidFill>
              </a:rPr>
              <a:t>Izanagi</a:t>
            </a:r>
            <a:endParaRPr lang="en-US" sz="1210"/>
          </a:p>
        </p:txBody>
      </p:sp>
      <p:sp>
        <p:nvSpPr>
          <p:cNvPr id="97" name="Cell 97"/>
          <p:cNvSpPr>
            <a:spLocks noGrp="1"/>
          </p:cNvSpPr>
          <p:nvPr/>
        </p:nvSpPr>
        <p:spPr>
          <a:xfrm>
            <a:off x="2606040" y="4754880"/>
            <a:ext cx="2423160" cy="219456"/>
          </a:xfrm>
          <a:solidFill>
            <a:srgbClr val="FCF2E0"/>
          </a:solidFill>
          <a:ln w="12700">
            <a:noFill/>
          </a:ln>
          <a:prstGeom prst="rect">
            <a:avLst/>
          </a:prstGeom>
        </p:spPr>
      </p:sp>
      <p:sp>
        <p:nvSpPr>
          <p:cNvPr id="98" name="Text 98"/>
          <p:cNvSpPr>
            <a:spLocks noGrp="1"/>
          </p:cNvSpPr>
          <p:nvPr/>
        </p:nvSpPr>
        <p:spPr>
          <a:xfrm>
            <a:off x="2606040" y="4745736"/>
            <a:ext cx="24231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68.0</a:t>
            </a:r>
            <a:endParaRPr lang="en-US" sz="1180"/>
          </a:p>
        </p:txBody>
      </p:sp>
      <p:sp>
        <p:nvSpPr>
          <p:cNvPr id="99" name="Cell 99"/>
          <p:cNvSpPr>
            <a:spLocks noGrp="1"/>
          </p:cNvSpPr>
          <p:nvPr/>
        </p:nvSpPr>
        <p:spPr>
          <a:xfrm>
            <a:off x="5230368" y="4754880"/>
            <a:ext cx="1600200" cy="219456"/>
          </a:xfrm>
          <a:solidFill>
            <a:srgbClr val="F7FAE6"/>
          </a:solidFill>
          <a:ln w="12700">
            <a:noFill/>
          </a:ln>
          <a:prstGeom prst="rect">
            <a:avLst/>
          </a:prstGeom>
        </p:spPr>
      </p:sp>
      <p:sp>
        <p:nvSpPr>
          <p:cNvPr id="100" name="Text 100"/>
          <p:cNvSpPr>
            <a:spLocks noGrp="1"/>
          </p:cNvSpPr>
          <p:nvPr/>
        </p:nvSpPr>
        <p:spPr>
          <a:xfrm>
            <a:off x="5230368" y="4745736"/>
            <a:ext cx="160020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71.7</a:t>
            </a:r>
            <a:endParaRPr lang="en-US" sz="1180"/>
          </a:p>
        </p:txBody>
      </p:sp>
      <p:sp>
        <p:nvSpPr>
          <p:cNvPr id="101" name="Cell 101"/>
          <p:cNvSpPr>
            <a:spLocks noGrp="1"/>
          </p:cNvSpPr>
          <p:nvPr/>
        </p:nvSpPr>
        <p:spPr>
          <a:xfrm>
            <a:off x="7269480" y="4754880"/>
            <a:ext cx="1965960" cy="219456"/>
          </a:xfrm>
          <a:solidFill>
            <a:srgbClr val="F7FAE6"/>
          </a:solidFill>
          <a:ln w="12700">
            <a:noFill/>
          </a:ln>
          <a:prstGeom prst="rect">
            <a:avLst/>
          </a:prstGeom>
        </p:spPr>
      </p:sp>
      <p:sp>
        <p:nvSpPr>
          <p:cNvPr id="102" name="Text 102"/>
          <p:cNvSpPr>
            <a:spLocks noGrp="1"/>
          </p:cNvSpPr>
          <p:nvPr/>
        </p:nvSpPr>
        <p:spPr>
          <a:xfrm>
            <a:off x="7269480" y="4745736"/>
            <a:ext cx="19659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70.0</a:t>
            </a:r>
            <a:endParaRPr lang="en-US" sz="1180"/>
          </a:p>
        </p:txBody>
      </p:sp>
      <p:sp>
        <p:nvSpPr>
          <p:cNvPr id="103" name="Cell 103"/>
          <p:cNvSpPr>
            <a:spLocks noGrp="1"/>
          </p:cNvSpPr>
          <p:nvPr/>
        </p:nvSpPr>
        <p:spPr>
          <a:xfrm>
            <a:off x="9875520" y="4754880"/>
            <a:ext cx="1938528" cy="219456"/>
          </a:xfrm>
          <a:solidFill>
            <a:srgbClr val="F7FAE6"/>
          </a:solidFill>
          <a:ln w="12700">
            <a:noFill/>
          </a:ln>
          <a:prstGeom prst="rect">
            <a:avLst/>
          </a:prstGeom>
        </p:spPr>
      </p:sp>
      <p:sp>
        <p:nvSpPr>
          <p:cNvPr id="104" name="Text 104"/>
          <p:cNvSpPr>
            <a:spLocks noGrp="1"/>
          </p:cNvSpPr>
          <p:nvPr/>
        </p:nvSpPr>
        <p:spPr>
          <a:xfrm>
            <a:off x="9875520" y="4745736"/>
            <a:ext cx="193852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72.5</a:t>
            </a:r>
            <a:endParaRPr lang="en-US" sz="1180" b="1"/>
          </a:p>
        </p:txBody>
      </p:sp>
      <p:sp>
        <p:nvSpPr>
          <p:cNvPr id="105" name="Text 105"/>
          <p:cNvSpPr>
            <a:spLocks noGrp="1"/>
          </p:cNvSpPr>
          <p:nvPr/>
        </p:nvSpPr>
        <p:spPr>
          <a:xfrm>
            <a:off x="274320" y="4992624"/>
            <a:ext cx="221284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10">
                <a:solidFill>
                  <a:srgbClr val="000000"/>
                </a:solidFill>
              </a:rPr>
              <a:t>Tiamat</a:t>
            </a:r>
            <a:endParaRPr lang="en-US" sz="1210"/>
          </a:p>
        </p:txBody>
      </p:sp>
      <p:sp>
        <p:nvSpPr>
          <p:cNvPr id="106" name="Cell 106"/>
          <p:cNvSpPr>
            <a:spLocks noGrp="1"/>
          </p:cNvSpPr>
          <p:nvPr/>
        </p:nvSpPr>
        <p:spPr>
          <a:xfrm>
            <a:off x="2606040" y="5001768"/>
            <a:ext cx="2423160" cy="219456"/>
          </a:xfrm>
          <a:solidFill>
            <a:srgbClr val="E8F5E8"/>
          </a:solidFill>
          <a:ln w="12700">
            <a:noFill/>
          </a:ln>
          <a:prstGeom prst="rect">
            <a:avLst/>
          </a:prstGeom>
        </p:spPr>
      </p:sp>
      <p:sp>
        <p:nvSpPr>
          <p:cNvPr id="107" name="Text 107"/>
          <p:cNvSpPr>
            <a:spLocks noGrp="1"/>
          </p:cNvSpPr>
          <p:nvPr/>
        </p:nvSpPr>
        <p:spPr>
          <a:xfrm>
            <a:off x="2606040" y="4992624"/>
            <a:ext cx="24231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94.0</a:t>
            </a:r>
            <a:endParaRPr lang="en-US" sz="1180"/>
          </a:p>
        </p:txBody>
      </p:sp>
      <p:sp>
        <p:nvSpPr>
          <p:cNvPr id="108" name="Cell 108"/>
          <p:cNvSpPr>
            <a:spLocks noGrp="1"/>
          </p:cNvSpPr>
          <p:nvPr/>
        </p:nvSpPr>
        <p:spPr>
          <a:xfrm>
            <a:off x="5230368" y="5001768"/>
            <a:ext cx="1600200" cy="219456"/>
          </a:xfrm>
          <a:solidFill>
            <a:srgbClr val="E8F5E8"/>
          </a:solidFill>
          <a:ln w="12700">
            <a:noFill/>
          </a:ln>
          <a:prstGeom prst="rect">
            <a:avLst/>
          </a:prstGeom>
        </p:spPr>
      </p:sp>
      <p:sp>
        <p:nvSpPr>
          <p:cNvPr id="109" name="Text 109"/>
          <p:cNvSpPr>
            <a:spLocks noGrp="1"/>
          </p:cNvSpPr>
          <p:nvPr/>
        </p:nvSpPr>
        <p:spPr>
          <a:xfrm>
            <a:off x="5230368" y="4992624"/>
            <a:ext cx="160020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93.0</a:t>
            </a:r>
            <a:endParaRPr lang="en-US" sz="1180"/>
          </a:p>
        </p:txBody>
      </p:sp>
      <p:sp>
        <p:nvSpPr>
          <p:cNvPr id="110" name="Cell 110"/>
          <p:cNvSpPr>
            <a:spLocks noGrp="1"/>
          </p:cNvSpPr>
          <p:nvPr/>
        </p:nvSpPr>
        <p:spPr>
          <a:xfrm>
            <a:off x="7269480" y="5001768"/>
            <a:ext cx="196596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111" name="Text 111"/>
          <p:cNvSpPr>
            <a:spLocks noGrp="1"/>
          </p:cNvSpPr>
          <p:nvPr/>
        </p:nvSpPr>
        <p:spPr>
          <a:xfrm>
            <a:off x="7269480" y="4992624"/>
            <a:ext cx="19659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99.0</a:t>
            </a:r>
            <a:endParaRPr lang="en-US" sz="1180" b="1"/>
          </a:p>
        </p:txBody>
      </p:sp>
      <p:sp>
        <p:nvSpPr>
          <p:cNvPr id="112" name="Cell 112"/>
          <p:cNvSpPr>
            <a:spLocks noGrp="1"/>
          </p:cNvSpPr>
          <p:nvPr/>
        </p:nvSpPr>
        <p:spPr>
          <a:xfrm>
            <a:off x="9875520" y="5001768"/>
            <a:ext cx="1938528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113" name="Text 113"/>
          <p:cNvSpPr>
            <a:spLocks noGrp="1"/>
          </p:cNvSpPr>
          <p:nvPr/>
        </p:nvSpPr>
        <p:spPr>
          <a:xfrm>
            <a:off x="9875520" y="4992624"/>
            <a:ext cx="193852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99.0</a:t>
            </a:r>
            <a:endParaRPr lang="en-US" sz="1180" b="1"/>
          </a:p>
        </p:txBody>
      </p:sp>
      <p:sp>
        <p:nvSpPr>
          <p:cNvPr id="114" name="Text 114"/>
          <p:cNvSpPr>
            <a:spLocks noGrp="1"/>
          </p:cNvSpPr>
          <p:nvPr/>
        </p:nvSpPr>
        <p:spPr>
          <a:xfrm>
            <a:off x="274320" y="5239512"/>
            <a:ext cx="221284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10">
                <a:solidFill>
                  <a:srgbClr val="000000"/>
                </a:solidFill>
              </a:rPr>
              <a:t>Droplet</a:t>
            </a:r>
            <a:endParaRPr lang="en-US" sz="1210"/>
          </a:p>
        </p:txBody>
      </p:sp>
      <p:sp>
        <p:nvSpPr>
          <p:cNvPr id="115" name="Cell 115"/>
          <p:cNvSpPr>
            <a:spLocks noGrp="1"/>
          </p:cNvSpPr>
          <p:nvPr/>
        </p:nvSpPr>
        <p:spPr>
          <a:xfrm>
            <a:off x="2606040" y="5248656"/>
            <a:ext cx="2423160" cy="219456"/>
          </a:xfrm>
          <a:solidFill>
            <a:srgbClr val="FAE6E6"/>
          </a:solidFill>
          <a:ln w="12700">
            <a:noFill/>
          </a:ln>
          <a:prstGeom prst="rect">
            <a:avLst/>
          </a:prstGeom>
        </p:spPr>
      </p:sp>
      <p:sp>
        <p:nvSpPr>
          <p:cNvPr id="116" name="Text 116"/>
          <p:cNvSpPr>
            <a:spLocks noGrp="1"/>
          </p:cNvSpPr>
          <p:nvPr/>
        </p:nvSpPr>
        <p:spPr>
          <a:xfrm>
            <a:off x="2606040" y="5239512"/>
            <a:ext cx="24231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45.0</a:t>
            </a:r>
            <a:endParaRPr lang="en-US" sz="1180"/>
          </a:p>
        </p:txBody>
      </p:sp>
      <p:sp>
        <p:nvSpPr>
          <p:cNvPr id="117" name="Cell 117"/>
          <p:cNvSpPr>
            <a:spLocks noGrp="1"/>
          </p:cNvSpPr>
          <p:nvPr/>
        </p:nvSpPr>
        <p:spPr>
          <a:xfrm>
            <a:off x="5230368" y="5248656"/>
            <a:ext cx="1600200" cy="219456"/>
          </a:xfrm>
          <a:solidFill>
            <a:srgbClr val="FCF2E0"/>
          </a:solidFill>
          <a:ln w="12700">
            <a:noFill/>
          </a:ln>
          <a:prstGeom prst="rect">
            <a:avLst/>
          </a:prstGeom>
        </p:spPr>
      </p:sp>
      <p:sp>
        <p:nvSpPr>
          <p:cNvPr id="118" name="Text 118"/>
          <p:cNvSpPr>
            <a:spLocks noGrp="1"/>
          </p:cNvSpPr>
          <p:nvPr/>
        </p:nvSpPr>
        <p:spPr>
          <a:xfrm>
            <a:off x="5230368" y="5239512"/>
            <a:ext cx="160020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67.7</a:t>
            </a:r>
            <a:endParaRPr lang="en-US" sz="1180"/>
          </a:p>
        </p:txBody>
      </p:sp>
      <p:sp>
        <p:nvSpPr>
          <p:cNvPr id="119" name="Cell 119"/>
          <p:cNvSpPr>
            <a:spLocks noGrp="1"/>
          </p:cNvSpPr>
          <p:nvPr/>
        </p:nvSpPr>
        <p:spPr>
          <a:xfrm>
            <a:off x="7269480" y="5248656"/>
            <a:ext cx="1965960" cy="219456"/>
          </a:xfrm>
          <a:solidFill>
            <a:srgbClr val="FCF2E0"/>
          </a:solidFill>
          <a:ln w="12700">
            <a:noFill/>
          </a:ln>
          <a:prstGeom prst="rect">
            <a:avLst/>
          </a:prstGeom>
        </p:spPr>
      </p:sp>
      <p:sp>
        <p:nvSpPr>
          <p:cNvPr id="120" name="Text 120"/>
          <p:cNvSpPr>
            <a:spLocks noGrp="1"/>
          </p:cNvSpPr>
          <p:nvPr/>
        </p:nvSpPr>
        <p:spPr>
          <a:xfrm>
            <a:off x="7269480" y="5239512"/>
            <a:ext cx="19659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62.0</a:t>
            </a:r>
            <a:endParaRPr lang="en-US" sz="1180"/>
          </a:p>
        </p:txBody>
      </p:sp>
      <p:sp>
        <p:nvSpPr>
          <p:cNvPr id="121" name="Cell 121"/>
          <p:cNvSpPr>
            <a:spLocks noGrp="1"/>
          </p:cNvSpPr>
          <p:nvPr/>
        </p:nvSpPr>
        <p:spPr>
          <a:xfrm>
            <a:off x="9875520" y="5248656"/>
            <a:ext cx="1938528" cy="219456"/>
          </a:xfrm>
          <a:solidFill>
            <a:srgbClr val="F7FAE6"/>
          </a:solidFill>
          <a:ln w="12700">
            <a:noFill/>
          </a:ln>
          <a:prstGeom prst="rect">
            <a:avLst/>
          </a:prstGeom>
        </p:spPr>
      </p:sp>
      <p:sp>
        <p:nvSpPr>
          <p:cNvPr id="122" name="Text 122"/>
          <p:cNvSpPr>
            <a:spLocks noGrp="1"/>
          </p:cNvSpPr>
          <p:nvPr/>
        </p:nvSpPr>
        <p:spPr>
          <a:xfrm>
            <a:off x="9875520" y="5239512"/>
            <a:ext cx="193852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75.5</a:t>
            </a:r>
            <a:endParaRPr lang="en-US" sz="1180" b="1"/>
          </a:p>
        </p:txBody>
      </p:sp>
      <p:sp>
        <p:nvSpPr>
          <p:cNvPr id="123" name="Text 123"/>
          <p:cNvSpPr>
            <a:spLocks noGrp="1"/>
          </p:cNvSpPr>
          <p:nvPr/>
        </p:nvSpPr>
        <p:spPr>
          <a:xfrm>
            <a:off x="274320" y="5486400"/>
            <a:ext cx="221284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10">
                <a:solidFill>
                  <a:srgbClr val="000000"/>
                </a:solidFill>
              </a:rPr>
              <a:t>GuidedRojoA3N</a:t>
            </a:r>
            <a:endParaRPr lang="en-US" sz="1210"/>
          </a:p>
        </p:txBody>
      </p:sp>
      <p:sp>
        <p:nvSpPr>
          <p:cNvPr id="124" name="Cell 124"/>
          <p:cNvSpPr>
            <a:spLocks noGrp="1"/>
          </p:cNvSpPr>
          <p:nvPr/>
        </p:nvSpPr>
        <p:spPr>
          <a:xfrm>
            <a:off x="2606040" y="5495544"/>
            <a:ext cx="2423160" cy="219456"/>
          </a:xfrm>
          <a:solidFill>
            <a:srgbClr val="FCF2E0"/>
          </a:solidFill>
          <a:ln w="12700">
            <a:noFill/>
          </a:ln>
          <a:prstGeom prst="rect">
            <a:avLst/>
          </a:prstGeom>
        </p:spPr>
      </p:sp>
      <p:sp>
        <p:nvSpPr>
          <p:cNvPr id="125" name="Text 125"/>
          <p:cNvSpPr>
            <a:spLocks noGrp="1"/>
          </p:cNvSpPr>
          <p:nvPr/>
        </p:nvSpPr>
        <p:spPr>
          <a:xfrm>
            <a:off x="2606040" y="5486400"/>
            <a:ext cx="24231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64.0</a:t>
            </a:r>
            <a:endParaRPr lang="en-US" sz="1180"/>
          </a:p>
        </p:txBody>
      </p:sp>
      <p:sp>
        <p:nvSpPr>
          <p:cNvPr id="126" name="Cell 126"/>
          <p:cNvSpPr>
            <a:spLocks noGrp="1"/>
          </p:cNvSpPr>
          <p:nvPr/>
        </p:nvSpPr>
        <p:spPr>
          <a:xfrm>
            <a:off x="5230368" y="5495544"/>
            <a:ext cx="1600200" cy="219456"/>
          </a:xfrm>
          <a:solidFill>
            <a:srgbClr val="F7FAE6"/>
          </a:solidFill>
          <a:ln w="12700">
            <a:noFill/>
          </a:ln>
          <a:prstGeom prst="rect">
            <a:avLst/>
          </a:prstGeom>
        </p:spPr>
      </p:sp>
      <p:sp>
        <p:nvSpPr>
          <p:cNvPr id="127" name="Text 127"/>
          <p:cNvSpPr>
            <a:spLocks noGrp="1"/>
          </p:cNvSpPr>
          <p:nvPr/>
        </p:nvSpPr>
        <p:spPr>
          <a:xfrm>
            <a:off x="5230368" y="5486400"/>
            <a:ext cx="160020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74.7</a:t>
            </a:r>
            <a:endParaRPr lang="en-US" sz="1180"/>
          </a:p>
        </p:txBody>
      </p:sp>
      <p:sp>
        <p:nvSpPr>
          <p:cNvPr id="128" name="Cell 128"/>
          <p:cNvSpPr>
            <a:spLocks noGrp="1"/>
          </p:cNvSpPr>
          <p:nvPr/>
        </p:nvSpPr>
        <p:spPr>
          <a:xfrm>
            <a:off x="7269480" y="5495544"/>
            <a:ext cx="1965960" cy="219456"/>
          </a:xfrm>
          <a:solidFill>
            <a:srgbClr val="E8F5E8"/>
          </a:solidFill>
          <a:ln w="12700">
            <a:noFill/>
          </a:ln>
          <a:prstGeom prst="rect">
            <a:avLst/>
          </a:prstGeom>
        </p:spPr>
      </p:sp>
      <p:sp>
        <p:nvSpPr>
          <p:cNvPr id="129" name="Text 129"/>
          <p:cNvSpPr>
            <a:spLocks noGrp="1"/>
          </p:cNvSpPr>
          <p:nvPr/>
        </p:nvSpPr>
        <p:spPr>
          <a:xfrm>
            <a:off x="7269480" y="5486400"/>
            <a:ext cx="19659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87.0</a:t>
            </a:r>
            <a:endParaRPr lang="en-US" sz="1180"/>
          </a:p>
        </p:txBody>
      </p:sp>
      <p:sp>
        <p:nvSpPr>
          <p:cNvPr id="130" name="Cell 130"/>
          <p:cNvSpPr>
            <a:spLocks noGrp="1"/>
          </p:cNvSpPr>
          <p:nvPr/>
        </p:nvSpPr>
        <p:spPr>
          <a:xfrm>
            <a:off x="9875520" y="5495544"/>
            <a:ext cx="1938528" cy="219456"/>
          </a:xfrm>
          <a:solidFill>
            <a:srgbClr val="E8F5E8"/>
          </a:solidFill>
          <a:ln w="12700">
            <a:noFill/>
          </a:ln>
          <a:prstGeom prst="rect">
            <a:avLst/>
          </a:prstGeom>
        </p:spPr>
      </p:sp>
      <p:sp>
        <p:nvSpPr>
          <p:cNvPr id="131" name="Text 131"/>
          <p:cNvSpPr>
            <a:spLocks noGrp="1"/>
          </p:cNvSpPr>
          <p:nvPr/>
        </p:nvSpPr>
        <p:spPr>
          <a:xfrm>
            <a:off x="9875520" y="5486400"/>
            <a:ext cx="193852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88.5</a:t>
            </a:r>
            <a:endParaRPr lang="en-US" sz="1180" b="1"/>
          </a:p>
        </p:txBody>
      </p:sp>
      <p:sp>
        <p:nvSpPr>
          <p:cNvPr id="132" name="Text 132"/>
          <p:cNvSpPr>
            <a:spLocks noGrp="1"/>
          </p:cNvSpPr>
          <p:nvPr/>
        </p:nvSpPr>
        <p:spPr>
          <a:xfrm>
            <a:off x="274320" y="5733288"/>
            <a:ext cx="221284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10">
                <a:solidFill>
                  <a:srgbClr val="000000"/>
                </a:solidFill>
              </a:rPr>
              <a:t>NaiveMCTS</a:t>
            </a:r>
            <a:endParaRPr lang="en-US" sz="1210"/>
          </a:p>
        </p:txBody>
      </p:sp>
      <p:sp>
        <p:nvSpPr>
          <p:cNvPr id="133" name="Cell 133"/>
          <p:cNvSpPr>
            <a:spLocks noGrp="1"/>
          </p:cNvSpPr>
          <p:nvPr/>
        </p:nvSpPr>
        <p:spPr>
          <a:xfrm>
            <a:off x="2606040" y="5742432"/>
            <a:ext cx="2423160" cy="219456"/>
          </a:xfrm>
          <a:solidFill>
            <a:srgbClr val="FAE6E6"/>
          </a:solidFill>
          <a:ln w="12700">
            <a:noFill/>
          </a:ln>
          <a:prstGeom prst="rect">
            <a:avLst/>
          </a:prstGeom>
        </p:spPr>
      </p:sp>
      <p:sp>
        <p:nvSpPr>
          <p:cNvPr id="134" name="Text 134"/>
          <p:cNvSpPr>
            <a:spLocks noGrp="1"/>
          </p:cNvSpPr>
          <p:nvPr/>
        </p:nvSpPr>
        <p:spPr>
          <a:xfrm>
            <a:off x="2606040" y="5733288"/>
            <a:ext cx="24231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0.0</a:t>
            </a:r>
            <a:endParaRPr lang="en-US" sz="1180"/>
          </a:p>
        </p:txBody>
      </p:sp>
      <p:sp>
        <p:nvSpPr>
          <p:cNvPr id="135" name="Cell 135"/>
          <p:cNvSpPr>
            <a:spLocks noGrp="1"/>
          </p:cNvSpPr>
          <p:nvPr/>
        </p:nvSpPr>
        <p:spPr>
          <a:xfrm>
            <a:off x="5230368" y="5742432"/>
            <a:ext cx="1600200" cy="219456"/>
          </a:xfrm>
          <a:solidFill>
            <a:srgbClr val="FAE6E6"/>
          </a:solidFill>
          <a:ln w="12700">
            <a:noFill/>
          </a:ln>
          <a:prstGeom prst="rect">
            <a:avLst/>
          </a:prstGeom>
        </p:spPr>
      </p:sp>
      <p:sp>
        <p:nvSpPr>
          <p:cNvPr id="136" name="Text 136"/>
          <p:cNvSpPr>
            <a:spLocks noGrp="1"/>
          </p:cNvSpPr>
          <p:nvPr/>
        </p:nvSpPr>
        <p:spPr>
          <a:xfrm>
            <a:off x="5230368" y="5733288"/>
            <a:ext cx="160020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0.7</a:t>
            </a:r>
            <a:endParaRPr lang="en-US" sz="1180"/>
          </a:p>
        </p:txBody>
      </p:sp>
      <p:sp>
        <p:nvSpPr>
          <p:cNvPr id="137" name="Cell 137"/>
          <p:cNvSpPr>
            <a:spLocks noGrp="1"/>
          </p:cNvSpPr>
          <p:nvPr/>
        </p:nvSpPr>
        <p:spPr>
          <a:xfrm>
            <a:off x="7269480" y="5742432"/>
            <a:ext cx="1965960" cy="219456"/>
          </a:xfrm>
          <a:solidFill>
            <a:srgbClr val="FAE6E6"/>
          </a:solidFill>
          <a:ln w="12700">
            <a:noFill/>
          </a:ln>
          <a:prstGeom prst="rect">
            <a:avLst/>
          </a:prstGeom>
        </p:spPr>
      </p:sp>
      <p:sp>
        <p:nvSpPr>
          <p:cNvPr id="138" name="Text 138"/>
          <p:cNvSpPr>
            <a:spLocks noGrp="1"/>
          </p:cNvSpPr>
          <p:nvPr/>
        </p:nvSpPr>
        <p:spPr>
          <a:xfrm>
            <a:off x="7269480" y="5733288"/>
            <a:ext cx="19659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2.0</a:t>
            </a:r>
            <a:endParaRPr lang="en-US" sz="1180"/>
          </a:p>
        </p:txBody>
      </p:sp>
      <p:sp>
        <p:nvSpPr>
          <p:cNvPr id="139" name="Cell 139"/>
          <p:cNvSpPr>
            <a:spLocks noGrp="1"/>
          </p:cNvSpPr>
          <p:nvPr/>
        </p:nvSpPr>
        <p:spPr>
          <a:xfrm>
            <a:off x="9875520" y="5742432"/>
            <a:ext cx="1938528" cy="219456"/>
          </a:xfrm>
          <a:solidFill>
            <a:srgbClr val="FAE6E6"/>
          </a:solidFill>
          <a:ln w="12700">
            <a:noFill/>
          </a:ln>
          <a:prstGeom prst="rect">
            <a:avLst/>
          </a:prstGeom>
        </p:spPr>
      </p:sp>
      <p:sp>
        <p:nvSpPr>
          <p:cNvPr id="140" name="Text 140"/>
          <p:cNvSpPr>
            <a:spLocks noGrp="1"/>
          </p:cNvSpPr>
          <p:nvPr/>
        </p:nvSpPr>
        <p:spPr>
          <a:xfrm>
            <a:off x="9875520" y="5733288"/>
            <a:ext cx="193852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6.5</a:t>
            </a:r>
            <a:endParaRPr lang="en-US" sz="1180" b="1"/>
          </a:p>
        </p:txBody>
      </p:sp>
      <p:sp>
        <p:nvSpPr>
          <p:cNvPr id="141" name="Rule 141"/>
          <p:cNvSpPr>
            <a:spLocks noGrp="1"/>
          </p:cNvSpPr>
          <p:nvPr/>
        </p:nvSpPr>
        <p:spPr>
          <a:xfrm>
            <a:off x="274320" y="5952744"/>
            <a:ext cx="11658600" cy="10973"/>
          </a:xfrm>
          <a:solidFill>
            <a:srgbClr val="000000"/>
          </a:solidFill>
          <a:ln w="12700">
            <a:noFill/>
          </a:ln>
          <a:prstGeom prst="rect">
            <a:avLst/>
          </a:prstGeom>
        </p:spPr>
      </p:sp>
      <p:sp>
        <p:nvSpPr>
          <p:cNvPr id="142" name="Text 142"/>
          <p:cNvSpPr>
            <a:spLocks noGrp="1"/>
          </p:cNvSpPr>
          <p:nvPr/>
        </p:nvSpPr>
        <p:spPr>
          <a:xfrm>
            <a:off x="274320" y="5980176"/>
            <a:ext cx="221284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10">
                <a:solidFill>
                  <a:srgbClr val="000000"/>
                </a:solidFill>
              </a:rPr>
              <a:t>overall</a:t>
            </a:r>
            <a:endParaRPr lang="en-US" sz="1210"/>
          </a:p>
        </p:txBody>
      </p:sp>
      <p:sp>
        <p:nvSpPr>
          <p:cNvPr id="143" name="Cell 143"/>
          <p:cNvSpPr>
            <a:spLocks noGrp="1"/>
          </p:cNvSpPr>
          <p:nvPr/>
        </p:nvSpPr>
        <p:spPr>
          <a:xfrm>
            <a:off x="2606040" y="5989320"/>
            <a:ext cx="2423160" cy="219456"/>
          </a:xfrm>
          <a:solidFill>
            <a:srgbClr val="F7FAE6"/>
          </a:solidFill>
          <a:ln w="12700">
            <a:noFill/>
          </a:ln>
          <a:prstGeom prst="rect">
            <a:avLst/>
          </a:prstGeom>
        </p:spPr>
      </p:sp>
      <p:sp>
        <p:nvSpPr>
          <p:cNvPr id="144" name="Text 144"/>
          <p:cNvSpPr>
            <a:spLocks noGrp="1"/>
          </p:cNvSpPr>
          <p:nvPr/>
        </p:nvSpPr>
        <p:spPr>
          <a:xfrm>
            <a:off x="2606040" y="5980176"/>
            <a:ext cx="24231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74.1</a:t>
            </a:r>
            <a:endParaRPr lang="en-US" sz="1180"/>
          </a:p>
        </p:txBody>
      </p:sp>
      <p:sp>
        <p:nvSpPr>
          <p:cNvPr id="145" name="Cell 145"/>
          <p:cNvSpPr>
            <a:spLocks noGrp="1"/>
          </p:cNvSpPr>
          <p:nvPr/>
        </p:nvSpPr>
        <p:spPr>
          <a:xfrm>
            <a:off x="5230368" y="5989320"/>
            <a:ext cx="1600200" cy="219456"/>
          </a:xfrm>
          <a:solidFill>
            <a:srgbClr val="F7FAE6"/>
          </a:solidFill>
          <a:ln w="12700">
            <a:noFill/>
          </a:ln>
          <a:prstGeom prst="rect">
            <a:avLst/>
          </a:prstGeom>
        </p:spPr>
      </p:sp>
      <p:sp>
        <p:nvSpPr>
          <p:cNvPr id="146" name="Text 146"/>
          <p:cNvSpPr>
            <a:spLocks noGrp="1"/>
          </p:cNvSpPr>
          <p:nvPr/>
        </p:nvSpPr>
        <p:spPr>
          <a:xfrm>
            <a:off x="5230368" y="5980176"/>
            <a:ext cx="160020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76.5</a:t>
            </a:r>
            <a:endParaRPr lang="en-US" sz="1180"/>
          </a:p>
        </p:txBody>
      </p:sp>
      <p:sp>
        <p:nvSpPr>
          <p:cNvPr id="147" name="Cell 147"/>
          <p:cNvSpPr>
            <a:spLocks noGrp="1"/>
          </p:cNvSpPr>
          <p:nvPr/>
        </p:nvSpPr>
        <p:spPr>
          <a:xfrm>
            <a:off x="7269480" y="5989320"/>
            <a:ext cx="1965960" cy="219456"/>
          </a:xfrm>
          <a:solidFill>
            <a:srgbClr val="F7FAE6"/>
          </a:solidFill>
          <a:ln w="12700">
            <a:noFill/>
          </a:ln>
          <a:prstGeom prst="rect">
            <a:avLst/>
          </a:prstGeom>
        </p:spPr>
      </p:sp>
      <p:sp>
        <p:nvSpPr>
          <p:cNvPr id="148" name="Text 148"/>
          <p:cNvSpPr>
            <a:spLocks noGrp="1"/>
          </p:cNvSpPr>
          <p:nvPr/>
        </p:nvSpPr>
        <p:spPr>
          <a:xfrm>
            <a:off x="7269480" y="5980176"/>
            <a:ext cx="19659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79.2</a:t>
            </a:r>
            <a:endParaRPr lang="en-US" sz="1180"/>
          </a:p>
        </p:txBody>
      </p:sp>
      <p:sp>
        <p:nvSpPr>
          <p:cNvPr id="149" name="Cell 149"/>
          <p:cNvSpPr>
            <a:spLocks noGrp="1"/>
          </p:cNvSpPr>
          <p:nvPr/>
        </p:nvSpPr>
        <p:spPr>
          <a:xfrm>
            <a:off x="9875520" y="5989320"/>
            <a:ext cx="1938528" cy="219456"/>
          </a:xfrm>
          <a:solidFill>
            <a:srgbClr val="E8F5E8"/>
          </a:solidFill>
          <a:ln w="12700">
            <a:noFill/>
          </a:ln>
          <a:prstGeom prst="rect">
            <a:avLst/>
          </a:prstGeom>
        </p:spPr>
      </p:sp>
      <p:sp>
        <p:nvSpPr>
          <p:cNvPr id="150" name="Text 150"/>
          <p:cNvSpPr>
            <a:spLocks noGrp="1"/>
          </p:cNvSpPr>
          <p:nvPr/>
        </p:nvSpPr>
        <p:spPr>
          <a:xfrm>
            <a:off x="9875520" y="5980176"/>
            <a:ext cx="193852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85.7</a:t>
            </a:r>
            <a:endParaRPr lang="en-US" sz="1180" b="1"/>
          </a:p>
        </p:txBody>
      </p:sp>
      <p:sp>
        <p:nvSpPr>
          <p:cNvPr id="151" name="Rule 151"/>
          <p:cNvSpPr>
            <a:spLocks noGrp="1"/>
          </p:cNvSpPr>
          <p:nvPr/>
        </p:nvSpPr>
        <p:spPr>
          <a:xfrm>
            <a:off x="274320" y="6208776"/>
            <a:ext cx="11658600" cy="16459"/>
          </a:xfrm>
          <a:solidFill>
            <a:srgbClr val="000000"/>
          </a:solidFill>
          <a:ln w="12700">
            <a:noFill/>
          </a:ln>
          <a:prstGeom prst="rect">
            <a:avLst/>
          </a:prstGeom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/>
        </p:nvSpPr>
        <p:spPr>
          <a:xfrm>
            <a:off x="0" y="0"/>
            <a:ext cx="12191695" cy="512064"/>
          </a:xfrm>
          <a:solidFill>
            <a:srgbClr val="EBF2F9"/>
          </a:solidFill>
          <a:ln w="12700">
            <a:noFill/>
          </a:ln>
          <a:prstGeom prst="rect">
            <a:avLst/>
          </a:prstGeom>
        </p:spPr>
      </p:sp>
      <p:sp>
        <p:nvSpPr>
          <p:cNvPr id="3" name="Text 3"/>
          <p:cNvSpPr>
            <a:spLocks noGrp="1"/>
          </p:cNvSpPr>
          <p:nvPr/>
        </p:nvSpPr>
        <p:spPr>
          <a:xfrm>
            <a:off x="164592" y="54864"/>
            <a:ext cx="9784080" cy="310896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marL="0" indent="0">
              <a:buNone/>
            </a:pPr>
            <a:r>
              <a:rPr lang="en-US" sz="2300">
                <a:solidFill>
                  <a:srgbClr val="003D7C"/>
                </a:solidFill>
              </a:rPr>
              <a:t>Evaluation Results</a:t>
            </a:r>
            <a:endParaRPr lang="en-US" sz="2300"/>
          </a:p>
        </p:txBody>
      </p:sp>
      <p:sp>
        <p:nvSpPr>
          <p:cNvPr id="4" name="Text 4"/>
          <p:cNvSpPr>
            <a:spLocks noGrp="1"/>
          </p:cNvSpPr>
          <p:nvPr/>
        </p:nvSpPr>
        <p:spPr>
          <a:xfrm>
            <a:off x="11750040" y="6510528"/>
            <a:ext cx="347472" cy="146304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lang="en-US" sz="850">
                <a:solidFill>
                  <a:srgbClr val="000000"/>
                </a:solidFill>
              </a:rPr>
              <a:t>15 / 23</a:t>
            </a:r>
            <a:endParaRPr lang="en-US" sz="850"/>
          </a:p>
        </p:txBody>
      </p:sp>
      <p:sp>
        <p:nvSpPr>
          <p:cNvPr id="5" name="Rule 5"/>
          <p:cNvSpPr>
            <a:spLocks noGrp="1"/>
          </p:cNvSpPr>
          <p:nvPr/>
        </p:nvSpPr>
        <p:spPr>
          <a:xfrm>
            <a:off x="274320" y="1060704"/>
            <a:ext cx="11658600" cy="16459"/>
          </a:xfrm>
          <a:solidFill>
            <a:srgbClr val="000000"/>
          </a:solidFill>
          <a:ln w="12700">
            <a:noFill/>
          </a:ln>
          <a:prstGeom prst="rect">
            <a:avLst/>
          </a:prstGeom>
        </p:spPr>
      </p:sp>
      <p:sp>
        <p:nvSpPr>
          <p:cNvPr id="6" name="Text 6"/>
          <p:cNvSpPr>
            <a:spLocks noGrp="1"/>
          </p:cNvSpPr>
          <p:nvPr/>
        </p:nvSpPr>
        <p:spPr>
          <a:xfrm>
            <a:off x="292608" y="1207008"/>
            <a:ext cx="2194560" cy="347472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20">
                <a:solidFill>
                  <a:srgbClr val="000000"/>
                </a:solidFill>
              </a:rPr>
              <a:t>Opponent</a:t>
            </a:r>
            <a:endParaRPr lang="en-US" sz="1220"/>
          </a:p>
        </p:txBody>
      </p:sp>
      <p:sp>
        <p:nvSpPr>
          <p:cNvPr id="7" name="Text 7"/>
          <p:cNvSpPr>
            <a:spLocks noGrp="1"/>
          </p:cNvSpPr>
          <p:nvPr/>
        </p:nvSpPr>
        <p:spPr>
          <a:xfrm>
            <a:off x="2606040" y="1115568"/>
            <a:ext cx="2423160" cy="502920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60">
                <a:solidFill>
                  <a:srgbClr val="000000"/>
                </a:solidFill>
              </a:rPr>
              <a:t>Main Agent</a:t>
            </a:r>
            <a:br/>
            <a:r>
              <a:rPr lang="en-US" sz="1160">
                <a:solidFill>
                  <a:srgbClr val="000000"/>
                </a:solidFill>
              </a:rPr>
              <a:t>without new initial agents</a:t>
            </a:r>
            <a:endParaRPr lang="en-US" sz="1160"/>
          </a:p>
        </p:txBody>
      </p:sp>
      <p:sp>
        <p:nvSpPr>
          <p:cNvPr id="8" name="Text 8"/>
          <p:cNvSpPr>
            <a:spLocks noGrp="1"/>
          </p:cNvSpPr>
          <p:nvPr/>
        </p:nvSpPr>
        <p:spPr>
          <a:xfrm>
            <a:off x="5230368" y="1115568"/>
            <a:ext cx="1600200" cy="502920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60">
                <a:solidFill>
                  <a:srgbClr val="000000"/>
                </a:solidFill>
              </a:rPr>
              <a:t>Base Agent</a:t>
            </a:r>
            <a:endParaRPr lang="en-US" sz="1160"/>
          </a:p>
        </p:txBody>
      </p:sp>
      <p:sp>
        <p:nvSpPr>
          <p:cNvPr id="9" name="Text 9"/>
          <p:cNvSpPr>
            <a:spLocks noGrp="1"/>
          </p:cNvSpPr>
          <p:nvPr/>
        </p:nvSpPr>
        <p:spPr>
          <a:xfrm>
            <a:off x="7269480" y="1115568"/>
            <a:ext cx="1965960" cy="502920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60">
                <a:solidFill>
                  <a:srgbClr val="000000"/>
                </a:solidFill>
              </a:rPr>
              <a:t>Main Agent (LT)</a:t>
            </a:r>
            <a:endParaRPr lang="en-US" sz="1160"/>
          </a:p>
        </p:txBody>
      </p:sp>
      <p:sp>
        <p:nvSpPr>
          <p:cNvPr id="10" name="Text 10"/>
          <p:cNvSpPr>
            <a:spLocks noGrp="1"/>
          </p:cNvSpPr>
          <p:nvPr/>
        </p:nvSpPr>
        <p:spPr>
          <a:xfrm>
            <a:off x="9875520" y="1115568"/>
            <a:ext cx="1938528" cy="502920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60">
                <a:solidFill>
                  <a:srgbClr val="000000"/>
                </a:solidFill>
              </a:rPr>
              <a:t>Main Agent +</a:t>
            </a:r>
            <a:br/>
            <a:r>
              <a:rPr lang="en-US" sz="1160">
                <a:solidFill>
                  <a:srgbClr val="000000"/>
                </a:solidFill>
              </a:rPr>
              <a:t>Fine-tuning</a:t>
            </a:r>
            <a:endParaRPr lang="en-US" sz="1160"/>
          </a:p>
        </p:txBody>
      </p:sp>
      <p:sp>
        <p:nvSpPr>
          <p:cNvPr id="11" name="Rule 11"/>
          <p:cNvSpPr>
            <a:spLocks noGrp="1"/>
          </p:cNvSpPr>
          <p:nvPr/>
        </p:nvSpPr>
        <p:spPr>
          <a:xfrm>
            <a:off x="274320" y="1664208"/>
            <a:ext cx="11658600" cy="10973"/>
          </a:xfrm>
          <a:solidFill>
            <a:srgbClr val="000000"/>
          </a:solidFill>
          <a:ln w="12700">
            <a:noFill/>
          </a:ln>
          <a:prstGeom prst="rect">
            <a:avLst/>
          </a:prstGeom>
        </p:spPr>
      </p:sp>
      <p:sp>
        <p:nvSpPr>
          <p:cNvPr id="12" name="Text 12"/>
          <p:cNvSpPr>
            <a:spLocks noGrp="1"/>
          </p:cNvSpPr>
          <p:nvPr/>
        </p:nvSpPr>
        <p:spPr>
          <a:xfrm>
            <a:off x="347472" y="1755648"/>
            <a:ext cx="4023360" cy="256032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30" i="1">
                <a:solidFill>
                  <a:srgbClr val="000000"/>
                </a:solidFill>
              </a:rPr>
              <a:t>bots used in training</a:t>
            </a:r>
            <a:endParaRPr lang="en-US" sz="1230"/>
          </a:p>
        </p:txBody>
      </p:sp>
      <p:sp>
        <p:nvSpPr>
          <p:cNvPr id="13" name="Text 13"/>
          <p:cNvSpPr>
            <a:spLocks noGrp="1"/>
          </p:cNvSpPr>
          <p:nvPr/>
        </p:nvSpPr>
        <p:spPr>
          <a:xfrm>
            <a:off x="274320" y="2011680"/>
            <a:ext cx="221284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10">
                <a:solidFill>
                  <a:srgbClr val="000000"/>
                </a:solidFill>
              </a:rPr>
              <a:t>CoacAI</a:t>
            </a:r>
            <a:endParaRPr lang="en-US" sz="1210"/>
          </a:p>
        </p:txBody>
      </p:sp>
      <p:sp>
        <p:nvSpPr>
          <p:cNvPr id="14" name="Cell 14"/>
          <p:cNvSpPr>
            <a:spLocks noGrp="1"/>
          </p:cNvSpPr>
          <p:nvPr/>
        </p:nvSpPr>
        <p:spPr>
          <a:xfrm>
            <a:off x="2606040" y="2020824"/>
            <a:ext cx="242316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15" name="Text 15"/>
          <p:cNvSpPr>
            <a:spLocks noGrp="1"/>
          </p:cNvSpPr>
          <p:nvPr/>
        </p:nvSpPr>
        <p:spPr>
          <a:xfrm>
            <a:off x="2606040" y="2011680"/>
            <a:ext cx="24231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0.0</a:t>
            </a:r>
            <a:endParaRPr lang="en-US" sz="1180" b="1"/>
          </a:p>
        </p:txBody>
      </p:sp>
      <p:sp>
        <p:nvSpPr>
          <p:cNvPr id="16" name="Cell 16"/>
          <p:cNvSpPr>
            <a:spLocks noGrp="1"/>
          </p:cNvSpPr>
          <p:nvPr/>
        </p:nvSpPr>
        <p:spPr>
          <a:xfrm>
            <a:off x="5230368" y="2020824"/>
            <a:ext cx="160020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17" name="Text 17"/>
          <p:cNvSpPr>
            <a:spLocks noGrp="1"/>
          </p:cNvSpPr>
          <p:nvPr/>
        </p:nvSpPr>
        <p:spPr>
          <a:xfrm>
            <a:off x="5230368" y="2011680"/>
            <a:ext cx="160020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2.0</a:t>
            </a:r>
            <a:endParaRPr lang="en-US" sz="1180"/>
          </a:p>
        </p:txBody>
      </p:sp>
      <p:sp>
        <p:nvSpPr>
          <p:cNvPr id="18" name="Cell 18"/>
          <p:cNvSpPr>
            <a:spLocks noGrp="1"/>
          </p:cNvSpPr>
          <p:nvPr/>
        </p:nvSpPr>
        <p:spPr>
          <a:xfrm>
            <a:off x="7269480" y="2020824"/>
            <a:ext cx="196596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19" name="Text 19"/>
          <p:cNvSpPr>
            <a:spLocks noGrp="1"/>
          </p:cNvSpPr>
          <p:nvPr/>
        </p:nvSpPr>
        <p:spPr>
          <a:xfrm>
            <a:off x="7269480" y="2011680"/>
            <a:ext cx="19659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0.0</a:t>
            </a:r>
            <a:endParaRPr lang="en-US" sz="1180" b="1"/>
          </a:p>
        </p:txBody>
      </p:sp>
      <p:sp>
        <p:nvSpPr>
          <p:cNvPr id="20" name="Cell 20"/>
          <p:cNvSpPr>
            <a:spLocks noGrp="1"/>
          </p:cNvSpPr>
          <p:nvPr/>
        </p:nvSpPr>
        <p:spPr>
          <a:xfrm>
            <a:off x="9875520" y="2020824"/>
            <a:ext cx="1938528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21" name="Text 21"/>
          <p:cNvSpPr>
            <a:spLocks noGrp="1"/>
          </p:cNvSpPr>
          <p:nvPr/>
        </p:nvSpPr>
        <p:spPr>
          <a:xfrm>
            <a:off x="9875520" y="2011680"/>
            <a:ext cx="193852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0.0</a:t>
            </a:r>
            <a:endParaRPr lang="en-US" sz="1180" b="1"/>
          </a:p>
        </p:txBody>
      </p:sp>
      <p:sp>
        <p:nvSpPr>
          <p:cNvPr id="22" name="Text 22"/>
          <p:cNvSpPr>
            <a:spLocks noGrp="1"/>
          </p:cNvSpPr>
          <p:nvPr/>
        </p:nvSpPr>
        <p:spPr>
          <a:xfrm>
            <a:off x="274320" y="2258568"/>
            <a:ext cx="221284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10">
                <a:solidFill>
                  <a:srgbClr val="000000"/>
                </a:solidFill>
              </a:rPr>
              <a:t>Mayari</a:t>
            </a:r>
            <a:endParaRPr lang="en-US" sz="1210"/>
          </a:p>
        </p:txBody>
      </p:sp>
      <p:sp>
        <p:nvSpPr>
          <p:cNvPr id="23" name="Cell 23"/>
          <p:cNvSpPr>
            <a:spLocks noGrp="1"/>
          </p:cNvSpPr>
          <p:nvPr/>
        </p:nvSpPr>
        <p:spPr>
          <a:xfrm>
            <a:off x="2606040" y="2267712"/>
            <a:ext cx="242316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24" name="Text 24"/>
          <p:cNvSpPr>
            <a:spLocks noGrp="1"/>
          </p:cNvSpPr>
          <p:nvPr/>
        </p:nvSpPr>
        <p:spPr>
          <a:xfrm>
            <a:off x="2606040" y="2258568"/>
            <a:ext cx="24231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0.0</a:t>
            </a:r>
            <a:endParaRPr lang="en-US" sz="1180" b="1"/>
          </a:p>
        </p:txBody>
      </p:sp>
      <p:sp>
        <p:nvSpPr>
          <p:cNvPr id="25" name="Cell 25"/>
          <p:cNvSpPr>
            <a:spLocks noGrp="1"/>
          </p:cNvSpPr>
          <p:nvPr/>
        </p:nvSpPr>
        <p:spPr>
          <a:xfrm>
            <a:off x="5230368" y="2267712"/>
            <a:ext cx="1600200" cy="219456"/>
          </a:xfrm>
          <a:solidFill>
            <a:srgbClr val="FAE6E6"/>
          </a:solidFill>
          <a:ln w="12700">
            <a:noFill/>
          </a:ln>
          <a:prstGeom prst="rect">
            <a:avLst/>
          </a:prstGeom>
        </p:spPr>
      </p:sp>
      <p:sp>
        <p:nvSpPr>
          <p:cNvPr id="26" name="Text 26"/>
          <p:cNvSpPr>
            <a:spLocks noGrp="1"/>
          </p:cNvSpPr>
          <p:nvPr/>
        </p:nvSpPr>
        <p:spPr>
          <a:xfrm>
            <a:off x="5230368" y="2258568"/>
            <a:ext cx="160020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27.3</a:t>
            </a:r>
            <a:endParaRPr lang="en-US" sz="1180"/>
          </a:p>
        </p:txBody>
      </p:sp>
      <p:sp>
        <p:nvSpPr>
          <p:cNvPr id="27" name="Cell 27"/>
          <p:cNvSpPr>
            <a:spLocks noGrp="1"/>
          </p:cNvSpPr>
          <p:nvPr/>
        </p:nvSpPr>
        <p:spPr>
          <a:xfrm>
            <a:off x="7269480" y="2267712"/>
            <a:ext cx="196596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28" name="Text 28"/>
          <p:cNvSpPr>
            <a:spLocks noGrp="1"/>
          </p:cNvSpPr>
          <p:nvPr/>
        </p:nvSpPr>
        <p:spPr>
          <a:xfrm>
            <a:off x="7269480" y="2258568"/>
            <a:ext cx="19659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0.0</a:t>
            </a:r>
            <a:endParaRPr lang="en-US" sz="1180" b="1"/>
          </a:p>
        </p:txBody>
      </p:sp>
      <p:sp>
        <p:nvSpPr>
          <p:cNvPr id="29" name="Cell 29"/>
          <p:cNvSpPr>
            <a:spLocks noGrp="1"/>
          </p:cNvSpPr>
          <p:nvPr/>
        </p:nvSpPr>
        <p:spPr>
          <a:xfrm>
            <a:off x="9875520" y="2267712"/>
            <a:ext cx="1938528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30" name="Text 30"/>
          <p:cNvSpPr>
            <a:spLocks noGrp="1"/>
          </p:cNvSpPr>
          <p:nvPr/>
        </p:nvSpPr>
        <p:spPr>
          <a:xfrm>
            <a:off x="9875520" y="2258568"/>
            <a:ext cx="193852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0.0</a:t>
            </a:r>
            <a:endParaRPr lang="en-US" sz="1180" b="1"/>
          </a:p>
        </p:txBody>
      </p:sp>
      <p:sp>
        <p:nvSpPr>
          <p:cNvPr id="31" name="Text 31"/>
          <p:cNvSpPr>
            <a:spLocks noGrp="1"/>
          </p:cNvSpPr>
          <p:nvPr/>
        </p:nvSpPr>
        <p:spPr>
          <a:xfrm>
            <a:off x="347472" y="2505456"/>
            <a:ext cx="4023360" cy="256032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30" i="1">
                <a:solidFill>
                  <a:srgbClr val="000000"/>
                </a:solidFill>
              </a:rPr>
              <a:t>Built-in bots</a:t>
            </a:r>
            <a:endParaRPr lang="en-US" sz="1230"/>
          </a:p>
        </p:txBody>
      </p:sp>
      <p:sp>
        <p:nvSpPr>
          <p:cNvPr id="32" name="Text 32"/>
          <p:cNvSpPr>
            <a:spLocks noGrp="1"/>
          </p:cNvSpPr>
          <p:nvPr/>
        </p:nvSpPr>
        <p:spPr>
          <a:xfrm>
            <a:off x="274320" y="2761488"/>
            <a:ext cx="221284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10">
                <a:solidFill>
                  <a:srgbClr val="000000"/>
                </a:solidFill>
              </a:rPr>
              <a:t>WorkerRushAI</a:t>
            </a:r>
            <a:endParaRPr lang="en-US" sz="1210"/>
          </a:p>
        </p:txBody>
      </p:sp>
      <p:sp>
        <p:nvSpPr>
          <p:cNvPr id="33" name="Cell 33"/>
          <p:cNvSpPr>
            <a:spLocks noGrp="1"/>
          </p:cNvSpPr>
          <p:nvPr/>
        </p:nvSpPr>
        <p:spPr>
          <a:xfrm>
            <a:off x="2606040" y="2770632"/>
            <a:ext cx="2423160" cy="219456"/>
          </a:xfrm>
          <a:solidFill>
            <a:srgbClr val="FAE6E6"/>
          </a:solidFill>
          <a:ln w="12700">
            <a:noFill/>
          </a:ln>
          <a:prstGeom prst="rect">
            <a:avLst/>
          </a:prstGeom>
        </p:spPr>
      </p:sp>
      <p:sp>
        <p:nvSpPr>
          <p:cNvPr id="34" name="Text 34"/>
          <p:cNvSpPr>
            <a:spLocks noGrp="1"/>
          </p:cNvSpPr>
          <p:nvPr/>
        </p:nvSpPr>
        <p:spPr>
          <a:xfrm>
            <a:off x="2606040" y="2761488"/>
            <a:ext cx="24231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63.0</a:t>
            </a:r>
            <a:endParaRPr lang="en-US" sz="1180"/>
          </a:p>
        </p:txBody>
      </p:sp>
      <p:sp>
        <p:nvSpPr>
          <p:cNvPr id="35" name="Cell 35"/>
          <p:cNvSpPr>
            <a:spLocks noGrp="1"/>
          </p:cNvSpPr>
          <p:nvPr/>
        </p:nvSpPr>
        <p:spPr>
          <a:xfrm>
            <a:off x="5230368" y="2770632"/>
            <a:ext cx="160020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36" name="Text 36"/>
          <p:cNvSpPr>
            <a:spLocks noGrp="1"/>
          </p:cNvSpPr>
          <p:nvPr/>
        </p:nvSpPr>
        <p:spPr>
          <a:xfrm>
            <a:off x="5230368" y="2761488"/>
            <a:ext cx="160020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0.0</a:t>
            </a:r>
            <a:endParaRPr lang="en-US" sz="1180" b="1"/>
          </a:p>
        </p:txBody>
      </p:sp>
      <p:sp>
        <p:nvSpPr>
          <p:cNvPr id="37" name="Cell 37"/>
          <p:cNvSpPr>
            <a:spLocks noGrp="1"/>
          </p:cNvSpPr>
          <p:nvPr/>
        </p:nvSpPr>
        <p:spPr>
          <a:xfrm>
            <a:off x="7269480" y="2770632"/>
            <a:ext cx="1965960" cy="219456"/>
          </a:xfrm>
          <a:solidFill>
            <a:srgbClr val="FAE6E6"/>
          </a:solidFill>
          <a:ln w="12700">
            <a:noFill/>
          </a:ln>
          <a:prstGeom prst="rect">
            <a:avLst/>
          </a:prstGeom>
        </p:spPr>
      </p:sp>
      <p:sp>
        <p:nvSpPr>
          <p:cNvPr id="38" name="Text 38"/>
          <p:cNvSpPr>
            <a:spLocks noGrp="1"/>
          </p:cNvSpPr>
          <p:nvPr/>
        </p:nvSpPr>
        <p:spPr>
          <a:xfrm>
            <a:off x="7269480" y="2761488"/>
            <a:ext cx="19659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55.0</a:t>
            </a:r>
            <a:endParaRPr lang="en-US" sz="1180"/>
          </a:p>
        </p:txBody>
      </p:sp>
      <p:sp>
        <p:nvSpPr>
          <p:cNvPr id="39" name="Cell 39"/>
          <p:cNvSpPr>
            <a:spLocks noGrp="1"/>
          </p:cNvSpPr>
          <p:nvPr/>
        </p:nvSpPr>
        <p:spPr>
          <a:xfrm>
            <a:off x="9875520" y="2770632"/>
            <a:ext cx="1938528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40" name="Text 40"/>
          <p:cNvSpPr>
            <a:spLocks noGrp="1"/>
          </p:cNvSpPr>
          <p:nvPr/>
        </p:nvSpPr>
        <p:spPr>
          <a:xfrm>
            <a:off x="9875520" y="2761488"/>
            <a:ext cx="193852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0.5</a:t>
            </a:r>
            <a:endParaRPr lang="en-US" sz="1180"/>
          </a:p>
        </p:txBody>
      </p:sp>
      <p:sp>
        <p:nvSpPr>
          <p:cNvPr id="41" name="Text 41"/>
          <p:cNvSpPr>
            <a:spLocks noGrp="1"/>
          </p:cNvSpPr>
          <p:nvPr/>
        </p:nvSpPr>
        <p:spPr>
          <a:xfrm>
            <a:off x="274320" y="3008376"/>
            <a:ext cx="221284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10">
                <a:solidFill>
                  <a:srgbClr val="000000"/>
                </a:solidFill>
              </a:rPr>
              <a:t>PassiveAI</a:t>
            </a:r>
            <a:endParaRPr lang="en-US" sz="1210"/>
          </a:p>
        </p:txBody>
      </p:sp>
      <p:sp>
        <p:nvSpPr>
          <p:cNvPr id="42" name="Cell 42"/>
          <p:cNvSpPr>
            <a:spLocks noGrp="1"/>
          </p:cNvSpPr>
          <p:nvPr/>
        </p:nvSpPr>
        <p:spPr>
          <a:xfrm>
            <a:off x="2606040" y="3017520"/>
            <a:ext cx="242316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43" name="Text 43"/>
          <p:cNvSpPr>
            <a:spLocks noGrp="1"/>
          </p:cNvSpPr>
          <p:nvPr/>
        </p:nvSpPr>
        <p:spPr>
          <a:xfrm>
            <a:off x="2606040" y="3008376"/>
            <a:ext cx="24231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0.0</a:t>
            </a:r>
            <a:endParaRPr lang="en-US" sz="1180" b="1"/>
          </a:p>
        </p:txBody>
      </p:sp>
      <p:sp>
        <p:nvSpPr>
          <p:cNvPr id="44" name="Cell 44"/>
          <p:cNvSpPr>
            <a:spLocks noGrp="1"/>
          </p:cNvSpPr>
          <p:nvPr/>
        </p:nvSpPr>
        <p:spPr>
          <a:xfrm>
            <a:off x="5230368" y="3017520"/>
            <a:ext cx="160020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45" name="Text 45"/>
          <p:cNvSpPr>
            <a:spLocks noGrp="1"/>
          </p:cNvSpPr>
          <p:nvPr/>
        </p:nvSpPr>
        <p:spPr>
          <a:xfrm>
            <a:off x="5230368" y="3008376"/>
            <a:ext cx="160020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0.0</a:t>
            </a:r>
            <a:endParaRPr lang="en-US" sz="1180" b="1"/>
          </a:p>
        </p:txBody>
      </p:sp>
      <p:sp>
        <p:nvSpPr>
          <p:cNvPr id="46" name="Cell 46"/>
          <p:cNvSpPr>
            <a:spLocks noGrp="1"/>
          </p:cNvSpPr>
          <p:nvPr/>
        </p:nvSpPr>
        <p:spPr>
          <a:xfrm>
            <a:off x="7269480" y="3017520"/>
            <a:ext cx="196596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47" name="Text 47"/>
          <p:cNvSpPr>
            <a:spLocks noGrp="1"/>
          </p:cNvSpPr>
          <p:nvPr/>
        </p:nvSpPr>
        <p:spPr>
          <a:xfrm>
            <a:off x="7269480" y="3008376"/>
            <a:ext cx="19659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0.0</a:t>
            </a:r>
            <a:endParaRPr lang="en-US" sz="1180" b="1"/>
          </a:p>
        </p:txBody>
      </p:sp>
      <p:sp>
        <p:nvSpPr>
          <p:cNvPr id="48" name="Cell 48"/>
          <p:cNvSpPr>
            <a:spLocks noGrp="1"/>
          </p:cNvSpPr>
          <p:nvPr/>
        </p:nvSpPr>
        <p:spPr>
          <a:xfrm>
            <a:off x="9875520" y="3017520"/>
            <a:ext cx="1938528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49" name="Text 49"/>
          <p:cNvSpPr>
            <a:spLocks noGrp="1"/>
          </p:cNvSpPr>
          <p:nvPr/>
        </p:nvSpPr>
        <p:spPr>
          <a:xfrm>
            <a:off x="9875520" y="3008376"/>
            <a:ext cx="193852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0.0</a:t>
            </a:r>
            <a:endParaRPr lang="en-US" sz="1180" b="1"/>
          </a:p>
        </p:txBody>
      </p:sp>
      <p:sp>
        <p:nvSpPr>
          <p:cNvPr id="50" name="Text 50"/>
          <p:cNvSpPr>
            <a:spLocks noGrp="1"/>
          </p:cNvSpPr>
          <p:nvPr/>
        </p:nvSpPr>
        <p:spPr>
          <a:xfrm>
            <a:off x="274320" y="3255264"/>
            <a:ext cx="221284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10">
                <a:solidFill>
                  <a:srgbClr val="000000"/>
                </a:solidFill>
              </a:rPr>
              <a:t>LightRushAI</a:t>
            </a:r>
            <a:endParaRPr lang="en-US" sz="1210"/>
          </a:p>
        </p:txBody>
      </p:sp>
      <p:sp>
        <p:nvSpPr>
          <p:cNvPr id="51" name="Cell 51"/>
          <p:cNvSpPr>
            <a:spLocks noGrp="1"/>
          </p:cNvSpPr>
          <p:nvPr/>
        </p:nvSpPr>
        <p:spPr>
          <a:xfrm>
            <a:off x="2606040" y="3264408"/>
            <a:ext cx="242316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52" name="Text 52"/>
          <p:cNvSpPr>
            <a:spLocks noGrp="1"/>
          </p:cNvSpPr>
          <p:nvPr/>
        </p:nvSpPr>
        <p:spPr>
          <a:xfrm>
            <a:off x="2606040" y="3255264"/>
            <a:ext cx="24231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0.0</a:t>
            </a:r>
            <a:endParaRPr lang="en-US" sz="1180" b="1"/>
          </a:p>
        </p:txBody>
      </p:sp>
      <p:sp>
        <p:nvSpPr>
          <p:cNvPr id="53" name="Cell 53"/>
          <p:cNvSpPr>
            <a:spLocks noGrp="1"/>
          </p:cNvSpPr>
          <p:nvPr/>
        </p:nvSpPr>
        <p:spPr>
          <a:xfrm>
            <a:off x="5230368" y="3264408"/>
            <a:ext cx="160020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54" name="Text 54"/>
          <p:cNvSpPr>
            <a:spLocks noGrp="1"/>
          </p:cNvSpPr>
          <p:nvPr/>
        </p:nvSpPr>
        <p:spPr>
          <a:xfrm>
            <a:off x="5230368" y="3255264"/>
            <a:ext cx="160020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2.0</a:t>
            </a:r>
            <a:endParaRPr lang="en-US" sz="1180"/>
          </a:p>
        </p:txBody>
      </p:sp>
      <p:sp>
        <p:nvSpPr>
          <p:cNvPr id="55" name="Cell 55"/>
          <p:cNvSpPr>
            <a:spLocks noGrp="1"/>
          </p:cNvSpPr>
          <p:nvPr/>
        </p:nvSpPr>
        <p:spPr>
          <a:xfrm>
            <a:off x="7269480" y="3264408"/>
            <a:ext cx="196596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56" name="Text 56"/>
          <p:cNvSpPr>
            <a:spLocks noGrp="1"/>
          </p:cNvSpPr>
          <p:nvPr/>
        </p:nvSpPr>
        <p:spPr>
          <a:xfrm>
            <a:off x="7269480" y="3255264"/>
            <a:ext cx="19659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0.0</a:t>
            </a:r>
            <a:endParaRPr lang="en-US" sz="1180" b="1"/>
          </a:p>
        </p:txBody>
      </p:sp>
      <p:sp>
        <p:nvSpPr>
          <p:cNvPr id="57" name="Cell 57"/>
          <p:cNvSpPr>
            <a:spLocks noGrp="1"/>
          </p:cNvSpPr>
          <p:nvPr/>
        </p:nvSpPr>
        <p:spPr>
          <a:xfrm>
            <a:off x="9875520" y="3264408"/>
            <a:ext cx="1938528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58" name="Text 58"/>
          <p:cNvSpPr>
            <a:spLocks noGrp="1"/>
          </p:cNvSpPr>
          <p:nvPr/>
        </p:nvSpPr>
        <p:spPr>
          <a:xfrm>
            <a:off x="9875520" y="3255264"/>
            <a:ext cx="193852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0.0</a:t>
            </a:r>
            <a:endParaRPr lang="en-US" sz="1180" b="1"/>
          </a:p>
        </p:txBody>
      </p:sp>
      <p:sp>
        <p:nvSpPr>
          <p:cNvPr id="59" name="Text 59"/>
          <p:cNvSpPr>
            <a:spLocks noGrp="1"/>
          </p:cNvSpPr>
          <p:nvPr/>
        </p:nvSpPr>
        <p:spPr>
          <a:xfrm>
            <a:off x="274320" y="3502152"/>
            <a:ext cx="221284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10">
                <a:solidFill>
                  <a:srgbClr val="000000"/>
                </a:solidFill>
              </a:rPr>
              <a:t>RandomAI</a:t>
            </a:r>
            <a:endParaRPr lang="en-US" sz="1210"/>
          </a:p>
        </p:txBody>
      </p:sp>
      <p:sp>
        <p:nvSpPr>
          <p:cNvPr id="60" name="Cell 60"/>
          <p:cNvSpPr>
            <a:spLocks noGrp="1"/>
          </p:cNvSpPr>
          <p:nvPr/>
        </p:nvSpPr>
        <p:spPr>
          <a:xfrm>
            <a:off x="2606040" y="3511296"/>
            <a:ext cx="242316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61" name="Text 61"/>
          <p:cNvSpPr>
            <a:spLocks noGrp="1"/>
          </p:cNvSpPr>
          <p:nvPr/>
        </p:nvSpPr>
        <p:spPr>
          <a:xfrm>
            <a:off x="2606040" y="3502152"/>
            <a:ext cx="24231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0.0</a:t>
            </a:r>
            <a:endParaRPr lang="en-US" sz="1180" b="1"/>
          </a:p>
        </p:txBody>
      </p:sp>
      <p:sp>
        <p:nvSpPr>
          <p:cNvPr id="62" name="Cell 62"/>
          <p:cNvSpPr>
            <a:spLocks noGrp="1"/>
          </p:cNvSpPr>
          <p:nvPr/>
        </p:nvSpPr>
        <p:spPr>
          <a:xfrm>
            <a:off x="5230368" y="3511296"/>
            <a:ext cx="160020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63" name="Text 63"/>
          <p:cNvSpPr>
            <a:spLocks noGrp="1"/>
          </p:cNvSpPr>
          <p:nvPr/>
        </p:nvSpPr>
        <p:spPr>
          <a:xfrm>
            <a:off x="5230368" y="3502152"/>
            <a:ext cx="160020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0.0</a:t>
            </a:r>
            <a:endParaRPr lang="en-US" sz="1180" b="1"/>
          </a:p>
        </p:txBody>
      </p:sp>
      <p:sp>
        <p:nvSpPr>
          <p:cNvPr id="64" name="Cell 64"/>
          <p:cNvSpPr>
            <a:spLocks noGrp="1"/>
          </p:cNvSpPr>
          <p:nvPr/>
        </p:nvSpPr>
        <p:spPr>
          <a:xfrm>
            <a:off x="7269480" y="3511296"/>
            <a:ext cx="196596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65" name="Text 65"/>
          <p:cNvSpPr>
            <a:spLocks noGrp="1"/>
          </p:cNvSpPr>
          <p:nvPr/>
        </p:nvSpPr>
        <p:spPr>
          <a:xfrm>
            <a:off x="7269480" y="3502152"/>
            <a:ext cx="19659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0.0</a:t>
            </a:r>
            <a:endParaRPr lang="en-US" sz="1180" b="1"/>
          </a:p>
        </p:txBody>
      </p:sp>
      <p:sp>
        <p:nvSpPr>
          <p:cNvPr id="66" name="Cell 66"/>
          <p:cNvSpPr>
            <a:spLocks noGrp="1"/>
          </p:cNvSpPr>
          <p:nvPr/>
        </p:nvSpPr>
        <p:spPr>
          <a:xfrm>
            <a:off x="9875520" y="3511296"/>
            <a:ext cx="1938528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67" name="Text 67"/>
          <p:cNvSpPr>
            <a:spLocks noGrp="1"/>
          </p:cNvSpPr>
          <p:nvPr/>
        </p:nvSpPr>
        <p:spPr>
          <a:xfrm>
            <a:off x="9875520" y="3502152"/>
            <a:ext cx="193852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0.0</a:t>
            </a:r>
            <a:endParaRPr lang="en-US" sz="1180" b="1"/>
          </a:p>
        </p:txBody>
      </p:sp>
      <p:sp>
        <p:nvSpPr>
          <p:cNvPr id="68" name="Text 68"/>
          <p:cNvSpPr>
            <a:spLocks noGrp="1"/>
          </p:cNvSpPr>
          <p:nvPr/>
        </p:nvSpPr>
        <p:spPr>
          <a:xfrm>
            <a:off x="274320" y="3749040"/>
            <a:ext cx="221284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10">
                <a:solidFill>
                  <a:srgbClr val="000000"/>
                </a:solidFill>
              </a:rPr>
              <a:t>RandomBiasedAI</a:t>
            </a:r>
            <a:endParaRPr lang="en-US" sz="1210"/>
          </a:p>
        </p:txBody>
      </p:sp>
      <p:sp>
        <p:nvSpPr>
          <p:cNvPr id="69" name="Cell 69"/>
          <p:cNvSpPr>
            <a:spLocks noGrp="1"/>
          </p:cNvSpPr>
          <p:nvPr/>
        </p:nvSpPr>
        <p:spPr>
          <a:xfrm>
            <a:off x="2606040" y="3758184"/>
            <a:ext cx="242316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70" name="Text 70"/>
          <p:cNvSpPr>
            <a:spLocks noGrp="1"/>
          </p:cNvSpPr>
          <p:nvPr/>
        </p:nvSpPr>
        <p:spPr>
          <a:xfrm>
            <a:off x="2606040" y="3749040"/>
            <a:ext cx="24231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0.0</a:t>
            </a:r>
            <a:endParaRPr lang="en-US" sz="1180" b="1"/>
          </a:p>
        </p:txBody>
      </p:sp>
      <p:sp>
        <p:nvSpPr>
          <p:cNvPr id="71" name="Cell 71"/>
          <p:cNvSpPr>
            <a:spLocks noGrp="1"/>
          </p:cNvSpPr>
          <p:nvPr/>
        </p:nvSpPr>
        <p:spPr>
          <a:xfrm>
            <a:off x="5230368" y="3758184"/>
            <a:ext cx="160020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72" name="Text 72"/>
          <p:cNvSpPr>
            <a:spLocks noGrp="1"/>
          </p:cNvSpPr>
          <p:nvPr/>
        </p:nvSpPr>
        <p:spPr>
          <a:xfrm>
            <a:off x="5230368" y="3749040"/>
            <a:ext cx="160020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0.0</a:t>
            </a:r>
            <a:endParaRPr lang="en-US" sz="1180" b="1"/>
          </a:p>
        </p:txBody>
      </p:sp>
      <p:sp>
        <p:nvSpPr>
          <p:cNvPr id="73" name="Cell 73"/>
          <p:cNvSpPr>
            <a:spLocks noGrp="1"/>
          </p:cNvSpPr>
          <p:nvPr/>
        </p:nvSpPr>
        <p:spPr>
          <a:xfrm>
            <a:off x="7269480" y="3758184"/>
            <a:ext cx="196596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74" name="Text 74"/>
          <p:cNvSpPr>
            <a:spLocks noGrp="1"/>
          </p:cNvSpPr>
          <p:nvPr/>
        </p:nvSpPr>
        <p:spPr>
          <a:xfrm>
            <a:off x="7269480" y="3749040"/>
            <a:ext cx="19659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0.0</a:t>
            </a:r>
            <a:endParaRPr lang="en-US" sz="1180" b="1"/>
          </a:p>
        </p:txBody>
      </p:sp>
      <p:sp>
        <p:nvSpPr>
          <p:cNvPr id="75" name="Cell 75"/>
          <p:cNvSpPr>
            <a:spLocks noGrp="1"/>
          </p:cNvSpPr>
          <p:nvPr/>
        </p:nvSpPr>
        <p:spPr>
          <a:xfrm>
            <a:off x="9875520" y="3758184"/>
            <a:ext cx="1938528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76" name="Text 76"/>
          <p:cNvSpPr>
            <a:spLocks noGrp="1"/>
          </p:cNvSpPr>
          <p:nvPr/>
        </p:nvSpPr>
        <p:spPr>
          <a:xfrm>
            <a:off x="9875520" y="3749040"/>
            <a:ext cx="193852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0.0</a:t>
            </a:r>
            <a:endParaRPr lang="en-US" sz="1180" b="1"/>
          </a:p>
        </p:txBody>
      </p:sp>
      <p:sp>
        <p:nvSpPr>
          <p:cNvPr id="77" name="Text 77"/>
          <p:cNvSpPr>
            <a:spLocks noGrp="1"/>
          </p:cNvSpPr>
          <p:nvPr/>
        </p:nvSpPr>
        <p:spPr>
          <a:xfrm>
            <a:off x="347472" y="3995928"/>
            <a:ext cx="4023360" cy="256032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30" i="1">
                <a:solidFill>
                  <a:srgbClr val="000000"/>
                </a:solidFill>
              </a:rPr>
              <a:t>Other bots</a:t>
            </a:r>
            <a:endParaRPr lang="en-US" sz="1230"/>
          </a:p>
        </p:txBody>
      </p:sp>
      <p:sp>
        <p:nvSpPr>
          <p:cNvPr id="78" name="Text 78"/>
          <p:cNvSpPr>
            <a:spLocks noGrp="1"/>
          </p:cNvSpPr>
          <p:nvPr/>
        </p:nvSpPr>
        <p:spPr>
          <a:xfrm>
            <a:off x="274320" y="4251960"/>
            <a:ext cx="221284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10">
                <a:solidFill>
                  <a:srgbClr val="000000"/>
                </a:solidFill>
              </a:rPr>
              <a:t>Rojo</a:t>
            </a:r>
            <a:endParaRPr lang="en-US" sz="1210"/>
          </a:p>
        </p:txBody>
      </p:sp>
      <p:sp>
        <p:nvSpPr>
          <p:cNvPr id="79" name="Cell 79"/>
          <p:cNvSpPr>
            <a:spLocks noGrp="1"/>
          </p:cNvSpPr>
          <p:nvPr/>
        </p:nvSpPr>
        <p:spPr>
          <a:xfrm>
            <a:off x="2606040" y="4261104"/>
            <a:ext cx="242316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80" name="Text 80"/>
          <p:cNvSpPr>
            <a:spLocks noGrp="1"/>
          </p:cNvSpPr>
          <p:nvPr/>
        </p:nvSpPr>
        <p:spPr>
          <a:xfrm>
            <a:off x="2606040" y="4251960"/>
            <a:ext cx="24231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0.0</a:t>
            </a:r>
            <a:endParaRPr lang="en-US" sz="1180" b="1"/>
          </a:p>
        </p:txBody>
      </p:sp>
      <p:sp>
        <p:nvSpPr>
          <p:cNvPr id="81" name="Cell 81"/>
          <p:cNvSpPr>
            <a:spLocks noGrp="1"/>
          </p:cNvSpPr>
          <p:nvPr/>
        </p:nvSpPr>
        <p:spPr>
          <a:xfrm>
            <a:off x="5230368" y="4261104"/>
            <a:ext cx="1600200" cy="219456"/>
          </a:xfrm>
          <a:solidFill>
            <a:srgbClr val="E8F5E8"/>
          </a:solidFill>
          <a:ln w="12700">
            <a:noFill/>
          </a:ln>
          <a:prstGeom prst="rect">
            <a:avLst/>
          </a:prstGeom>
        </p:spPr>
      </p:sp>
      <p:sp>
        <p:nvSpPr>
          <p:cNvPr id="82" name="Text 82"/>
          <p:cNvSpPr>
            <a:spLocks noGrp="1"/>
          </p:cNvSpPr>
          <p:nvPr/>
        </p:nvSpPr>
        <p:spPr>
          <a:xfrm>
            <a:off x="5230368" y="4251960"/>
            <a:ext cx="160020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5.3</a:t>
            </a:r>
            <a:endParaRPr lang="en-US" sz="1180"/>
          </a:p>
        </p:txBody>
      </p:sp>
      <p:sp>
        <p:nvSpPr>
          <p:cNvPr id="83" name="Cell 83"/>
          <p:cNvSpPr>
            <a:spLocks noGrp="1"/>
          </p:cNvSpPr>
          <p:nvPr/>
        </p:nvSpPr>
        <p:spPr>
          <a:xfrm>
            <a:off x="7269480" y="4261104"/>
            <a:ext cx="196596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84" name="Text 84"/>
          <p:cNvSpPr>
            <a:spLocks noGrp="1"/>
          </p:cNvSpPr>
          <p:nvPr/>
        </p:nvSpPr>
        <p:spPr>
          <a:xfrm>
            <a:off x="7269480" y="4251960"/>
            <a:ext cx="19659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0.0</a:t>
            </a:r>
            <a:endParaRPr lang="en-US" sz="1180" b="1"/>
          </a:p>
        </p:txBody>
      </p:sp>
      <p:sp>
        <p:nvSpPr>
          <p:cNvPr id="85" name="Cell 85"/>
          <p:cNvSpPr>
            <a:spLocks noGrp="1"/>
          </p:cNvSpPr>
          <p:nvPr/>
        </p:nvSpPr>
        <p:spPr>
          <a:xfrm>
            <a:off x="9875520" y="4261104"/>
            <a:ext cx="1938528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86" name="Text 86"/>
          <p:cNvSpPr>
            <a:spLocks noGrp="1"/>
          </p:cNvSpPr>
          <p:nvPr/>
        </p:nvSpPr>
        <p:spPr>
          <a:xfrm>
            <a:off x="9875520" y="4251960"/>
            <a:ext cx="193852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0.0</a:t>
            </a:r>
            <a:endParaRPr lang="en-US" sz="1180" b="1"/>
          </a:p>
        </p:txBody>
      </p:sp>
      <p:sp>
        <p:nvSpPr>
          <p:cNvPr id="87" name="Text 87"/>
          <p:cNvSpPr>
            <a:spLocks noGrp="1"/>
          </p:cNvSpPr>
          <p:nvPr/>
        </p:nvSpPr>
        <p:spPr>
          <a:xfrm>
            <a:off x="274320" y="4498848"/>
            <a:ext cx="221284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10">
                <a:solidFill>
                  <a:srgbClr val="000000"/>
                </a:solidFill>
              </a:rPr>
              <a:t>MixedBot</a:t>
            </a:r>
            <a:endParaRPr lang="en-US" sz="1210"/>
          </a:p>
        </p:txBody>
      </p:sp>
      <p:sp>
        <p:nvSpPr>
          <p:cNvPr id="88" name="Cell 88"/>
          <p:cNvSpPr>
            <a:spLocks noGrp="1"/>
          </p:cNvSpPr>
          <p:nvPr/>
        </p:nvSpPr>
        <p:spPr>
          <a:xfrm>
            <a:off x="2606040" y="4507992"/>
            <a:ext cx="2423160" cy="219456"/>
          </a:xfrm>
          <a:solidFill>
            <a:srgbClr val="FAE6E6"/>
          </a:solidFill>
          <a:ln w="12700">
            <a:noFill/>
          </a:ln>
          <a:prstGeom prst="rect">
            <a:avLst/>
          </a:prstGeom>
        </p:spPr>
      </p:sp>
      <p:sp>
        <p:nvSpPr>
          <p:cNvPr id="89" name="Text 89"/>
          <p:cNvSpPr>
            <a:spLocks noGrp="1"/>
          </p:cNvSpPr>
          <p:nvPr/>
        </p:nvSpPr>
        <p:spPr>
          <a:xfrm>
            <a:off x="2606040" y="4498848"/>
            <a:ext cx="24231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33.0</a:t>
            </a:r>
            <a:endParaRPr lang="en-US" sz="1180"/>
          </a:p>
        </p:txBody>
      </p:sp>
      <p:sp>
        <p:nvSpPr>
          <p:cNvPr id="90" name="Cell 90"/>
          <p:cNvSpPr>
            <a:spLocks noGrp="1"/>
          </p:cNvSpPr>
          <p:nvPr/>
        </p:nvSpPr>
        <p:spPr>
          <a:xfrm>
            <a:off x="5230368" y="4507992"/>
            <a:ext cx="1600200" cy="219456"/>
          </a:xfrm>
          <a:solidFill>
            <a:srgbClr val="FAE6E6"/>
          </a:solidFill>
          <a:ln w="12700">
            <a:noFill/>
          </a:ln>
          <a:prstGeom prst="rect">
            <a:avLst/>
          </a:prstGeom>
        </p:spPr>
      </p:sp>
      <p:sp>
        <p:nvSpPr>
          <p:cNvPr id="91" name="Text 91"/>
          <p:cNvSpPr>
            <a:spLocks noGrp="1"/>
          </p:cNvSpPr>
          <p:nvPr/>
        </p:nvSpPr>
        <p:spPr>
          <a:xfrm>
            <a:off x="5230368" y="4498848"/>
            <a:ext cx="160020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34.3</a:t>
            </a:r>
            <a:endParaRPr lang="en-US" sz="1180"/>
          </a:p>
        </p:txBody>
      </p:sp>
      <p:sp>
        <p:nvSpPr>
          <p:cNvPr id="92" name="Cell 92"/>
          <p:cNvSpPr>
            <a:spLocks noGrp="1"/>
          </p:cNvSpPr>
          <p:nvPr/>
        </p:nvSpPr>
        <p:spPr>
          <a:xfrm>
            <a:off x="7269480" y="4507992"/>
            <a:ext cx="1965960" cy="219456"/>
          </a:xfrm>
          <a:solidFill>
            <a:srgbClr val="FAE6E6"/>
          </a:solidFill>
          <a:ln w="12700">
            <a:noFill/>
          </a:ln>
          <a:prstGeom prst="rect">
            <a:avLst/>
          </a:prstGeom>
        </p:spPr>
      </p:sp>
      <p:sp>
        <p:nvSpPr>
          <p:cNvPr id="93" name="Text 93"/>
          <p:cNvSpPr>
            <a:spLocks noGrp="1"/>
          </p:cNvSpPr>
          <p:nvPr/>
        </p:nvSpPr>
        <p:spPr>
          <a:xfrm>
            <a:off x="7269480" y="4498848"/>
            <a:ext cx="19659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20.0</a:t>
            </a:r>
            <a:endParaRPr lang="en-US" sz="1180"/>
          </a:p>
        </p:txBody>
      </p:sp>
      <p:sp>
        <p:nvSpPr>
          <p:cNvPr id="94" name="Cell 94"/>
          <p:cNvSpPr>
            <a:spLocks noGrp="1"/>
          </p:cNvSpPr>
          <p:nvPr/>
        </p:nvSpPr>
        <p:spPr>
          <a:xfrm>
            <a:off x="9875520" y="4507992"/>
            <a:ext cx="1938528" cy="219456"/>
          </a:xfrm>
          <a:solidFill>
            <a:srgbClr val="FCF2E0"/>
          </a:solidFill>
          <a:ln w="12700">
            <a:noFill/>
          </a:ln>
          <a:prstGeom prst="rect">
            <a:avLst/>
          </a:prstGeom>
        </p:spPr>
      </p:sp>
      <p:sp>
        <p:nvSpPr>
          <p:cNvPr id="95" name="Text 95"/>
          <p:cNvSpPr>
            <a:spLocks noGrp="1"/>
          </p:cNvSpPr>
          <p:nvPr/>
        </p:nvSpPr>
        <p:spPr>
          <a:xfrm>
            <a:off x="9875520" y="4498848"/>
            <a:ext cx="193852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13.5</a:t>
            </a:r>
            <a:endParaRPr lang="en-US" sz="1180" b="1"/>
          </a:p>
        </p:txBody>
      </p:sp>
      <p:sp>
        <p:nvSpPr>
          <p:cNvPr id="96" name="Text 96"/>
          <p:cNvSpPr>
            <a:spLocks noGrp="1"/>
          </p:cNvSpPr>
          <p:nvPr/>
        </p:nvSpPr>
        <p:spPr>
          <a:xfrm>
            <a:off x="274320" y="4745736"/>
            <a:ext cx="221284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10">
                <a:solidFill>
                  <a:srgbClr val="000000"/>
                </a:solidFill>
              </a:rPr>
              <a:t>Izanagi</a:t>
            </a:r>
            <a:endParaRPr lang="en-US" sz="1210"/>
          </a:p>
        </p:txBody>
      </p:sp>
      <p:sp>
        <p:nvSpPr>
          <p:cNvPr id="97" name="Cell 97"/>
          <p:cNvSpPr>
            <a:spLocks noGrp="1"/>
          </p:cNvSpPr>
          <p:nvPr/>
        </p:nvSpPr>
        <p:spPr>
          <a:xfrm>
            <a:off x="2606040" y="4754880"/>
            <a:ext cx="2423160" cy="219456"/>
          </a:xfrm>
          <a:solidFill>
            <a:srgbClr val="FCF2E0"/>
          </a:solidFill>
          <a:ln w="12700">
            <a:noFill/>
          </a:ln>
          <a:prstGeom prst="rect">
            <a:avLst/>
          </a:prstGeom>
        </p:spPr>
      </p:sp>
      <p:sp>
        <p:nvSpPr>
          <p:cNvPr id="98" name="Text 98"/>
          <p:cNvSpPr>
            <a:spLocks noGrp="1"/>
          </p:cNvSpPr>
          <p:nvPr/>
        </p:nvSpPr>
        <p:spPr>
          <a:xfrm>
            <a:off x="2606040" y="4745736"/>
            <a:ext cx="24231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15.0</a:t>
            </a:r>
            <a:endParaRPr lang="en-US" sz="1180"/>
          </a:p>
        </p:txBody>
      </p:sp>
      <p:sp>
        <p:nvSpPr>
          <p:cNvPr id="99" name="Cell 99"/>
          <p:cNvSpPr>
            <a:spLocks noGrp="1"/>
          </p:cNvSpPr>
          <p:nvPr/>
        </p:nvSpPr>
        <p:spPr>
          <a:xfrm>
            <a:off x="5230368" y="4754880"/>
            <a:ext cx="1600200" cy="219456"/>
          </a:xfrm>
          <a:solidFill>
            <a:srgbClr val="FCF2E0"/>
          </a:solidFill>
          <a:ln w="12700">
            <a:noFill/>
          </a:ln>
          <a:prstGeom prst="rect">
            <a:avLst/>
          </a:prstGeom>
        </p:spPr>
      </p:sp>
      <p:sp>
        <p:nvSpPr>
          <p:cNvPr id="100" name="Text 100"/>
          <p:cNvSpPr>
            <a:spLocks noGrp="1"/>
          </p:cNvSpPr>
          <p:nvPr/>
        </p:nvSpPr>
        <p:spPr>
          <a:xfrm>
            <a:off x="5230368" y="4745736"/>
            <a:ext cx="160020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16.3</a:t>
            </a:r>
            <a:endParaRPr lang="en-US" sz="1180"/>
          </a:p>
        </p:txBody>
      </p:sp>
      <p:sp>
        <p:nvSpPr>
          <p:cNvPr id="101" name="Cell 101"/>
          <p:cNvSpPr>
            <a:spLocks noGrp="1"/>
          </p:cNvSpPr>
          <p:nvPr/>
        </p:nvSpPr>
        <p:spPr>
          <a:xfrm>
            <a:off x="7269480" y="4754880"/>
            <a:ext cx="1965960" cy="219456"/>
          </a:xfrm>
          <a:solidFill>
            <a:srgbClr val="E8F5E8"/>
          </a:solidFill>
          <a:ln w="12700">
            <a:noFill/>
          </a:ln>
          <a:prstGeom prst="rect">
            <a:avLst/>
          </a:prstGeom>
        </p:spPr>
      </p:sp>
      <p:sp>
        <p:nvSpPr>
          <p:cNvPr id="102" name="Text 102"/>
          <p:cNvSpPr>
            <a:spLocks noGrp="1"/>
          </p:cNvSpPr>
          <p:nvPr/>
        </p:nvSpPr>
        <p:spPr>
          <a:xfrm>
            <a:off x="7269480" y="4745736"/>
            <a:ext cx="19659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7.0</a:t>
            </a:r>
            <a:endParaRPr lang="en-US" sz="1180"/>
          </a:p>
        </p:txBody>
      </p:sp>
      <p:sp>
        <p:nvSpPr>
          <p:cNvPr id="103" name="Cell 103"/>
          <p:cNvSpPr>
            <a:spLocks noGrp="1"/>
          </p:cNvSpPr>
          <p:nvPr/>
        </p:nvSpPr>
        <p:spPr>
          <a:xfrm>
            <a:off x="9875520" y="4754880"/>
            <a:ext cx="1938528" cy="219456"/>
          </a:xfrm>
          <a:solidFill>
            <a:srgbClr val="E8F5E8"/>
          </a:solidFill>
          <a:ln w="12700">
            <a:noFill/>
          </a:ln>
          <a:prstGeom prst="rect">
            <a:avLst/>
          </a:prstGeom>
        </p:spPr>
      </p:sp>
      <p:sp>
        <p:nvSpPr>
          <p:cNvPr id="104" name="Text 104"/>
          <p:cNvSpPr>
            <a:spLocks noGrp="1"/>
          </p:cNvSpPr>
          <p:nvPr/>
        </p:nvSpPr>
        <p:spPr>
          <a:xfrm>
            <a:off x="9875520" y="4745736"/>
            <a:ext cx="193852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6.0</a:t>
            </a:r>
            <a:endParaRPr lang="en-US" sz="1180" b="1"/>
          </a:p>
        </p:txBody>
      </p:sp>
      <p:sp>
        <p:nvSpPr>
          <p:cNvPr id="105" name="Text 105"/>
          <p:cNvSpPr>
            <a:spLocks noGrp="1"/>
          </p:cNvSpPr>
          <p:nvPr/>
        </p:nvSpPr>
        <p:spPr>
          <a:xfrm>
            <a:off x="274320" y="4992624"/>
            <a:ext cx="221284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10">
                <a:solidFill>
                  <a:srgbClr val="000000"/>
                </a:solidFill>
              </a:rPr>
              <a:t>Tiamat</a:t>
            </a:r>
            <a:endParaRPr lang="en-US" sz="1210"/>
          </a:p>
        </p:txBody>
      </p:sp>
      <p:sp>
        <p:nvSpPr>
          <p:cNvPr id="106" name="Cell 106"/>
          <p:cNvSpPr>
            <a:spLocks noGrp="1"/>
          </p:cNvSpPr>
          <p:nvPr/>
        </p:nvSpPr>
        <p:spPr>
          <a:xfrm>
            <a:off x="2606040" y="5001768"/>
            <a:ext cx="2423160" cy="219456"/>
          </a:xfrm>
          <a:solidFill>
            <a:srgbClr val="E8F5E8"/>
          </a:solidFill>
          <a:ln w="12700">
            <a:noFill/>
          </a:ln>
          <a:prstGeom prst="rect">
            <a:avLst/>
          </a:prstGeom>
        </p:spPr>
      </p:sp>
      <p:sp>
        <p:nvSpPr>
          <p:cNvPr id="107" name="Text 107"/>
          <p:cNvSpPr>
            <a:spLocks noGrp="1"/>
          </p:cNvSpPr>
          <p:nvPr/>
        </p:nvSpPr>
        <p:spPr>
          <a:xfrm>
            <a:off x="2606040" y="4992624"/>
            <a:ext cx="24231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6.0</a:t>
            </a:r>
            <a:endParaRPr lang="en-US" sz="1180"/>
          </a:p>
        </p:txBody>
      </p:sp>
      <p:sp>
        <p:nvSpPr>
          <p:cNvPr id="108" name="Cell 108"/>
          <p:cNvSpPr>
            <a:spLocks noGrp="1"/>
          </p:cNvSpPr>
          <p:nvPr/>
        </p:nvSpPr>
        <p:spPr>
          <a:xfrm>
            <a:off x="5230368" y="5001768"/>
            <a:ext cx="1600200" cy="219456"/>
          </a:xfrm>
          <a:solidFill>
            <a:srgbClr val="E8F5E8"/>
          </a:solidFill>
          <a:ln w="12700">
            <a:noFill/>
          </a:ln>
          <a:prstGeom prst="rect">
            <a:avLst/>
          </a:prstGeom>
        </p:spPr>
      </p:sp>
      <p:sp>
        <p:nvSpPr>
          <p:cNvPr id="109" name="Text 109"/>
          <p:cNvSpPr>
            <a:spLocks noGrp="1"/>
          </p:cNvSpPr>
          <p:nvPr/>
        </p:nvSpPr>
        <p:spPr>
          <a:xfrm>
            <a:off x="5230368" y="4992624"/>
            <a:ext cx="160020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7.0</a:t>
            </a:r>
            <a:endParaRPr lang="en-US" sz="1180"/>
          </a:p>
        </p:txBody>
      </p:sp>
      <p:sp>
        <p:nvSpPr>
          <p:cNvPr id="110" name="Cell 110"/>
          <p:cNvSpPr>
            <a:spLocks noGrp="1"/>
          </p:cNvSpPr>
          <p:nvPr/>
        </p:nvSpPr>
        <p:spPr>
          <a:xfrm>
            <a:off x="7269480" y="5001768"/>
            <a:ext cx="196596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111" name="Text 111"/>
          <p:cNvSpPr>
            <a:spLocks noGrp="1"/>
          </p:cNvSpPr>
          <p:nvPr/>
        </p:nvSpPr>
        <p:spPr>
          <a:xfrm>
            <a:off x="7269480" y="4992624"/>
            <a:ext cx="19659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1.0</a:t>
            </a:r>
            <a:endParaRPr lang="en-US" sz="1180"/>
          </a:p>
        </p:txBody>
      </p:sp>
      <p:sp>
        <p:nvSpPr>
          <p:cNvPr id="112" name="Cell 112"/>
          <p:cNvSpPr>
            <a:spLocks noGrp="1"/>
          </p:cNvSpPr>
          <p:nvPr/>
        </p:nvSpPr>
        <p:spPr>
          <a:xfrm>
            <a:off x="9875520" y="5001768"/>
            <a:ext cx="1938528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113" name="Text 113"/>
          <p:cNvSpPr>
            <a:spLocks noGrp="1"/>
          </p:cNvSpPr>
          <p:nvPr/>
        </p:nvSpPr>
        <p:spPr>
          <a:xfrm>
            <a:off x="9875520" y="4992624"/>
            <a:ext cx="193852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0.5</a:t>
            </a:r>
            <a:endParaRPr lang="en-US" sz="1180" b="1"/>
          </a:p>
        </p:txBody>
      </p:sp>
      <p:sp>
        <p:nvSpPr>
          <p:cNvPr id="114" name="Text 114"/>
          <p:cNvSpPr>
            <a:spLocks noGrp="1"/>
          </p:cNvSpPr>
          <p:nvPr/>
        </p:nvSpPr>
        <p:spPr>
          <a:xfrm>
            <a:off x="274320" y="5239512"/>
            <a:ext cx="221284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10">
                <a:solidFill>
                  <a:srgbClr val="000000"/>
                </a:solidFill>
              </a:rPr>
              <a:t>Droplet</a:t>
            </a:r>
            <a:endParaRPr lang="en-US" sz="1210"/>
          </a:p>
        </p:txBody>
      </p:sp>
      <p:sp>
        <p:nvSpPr>
          <p:cNvPr id="115" name="Cell 115"/>
          <p:cNvSpPr>
            <a:spLocks noGrp="1"/>
          </p:cNvSpPr>
          <p:nvPr/>
        </p:nvSpPr>
        <p:spPr>
          <a:xfrm>
            <a:off x="2606040" y="5248656"/>
            <a:ext cx="2423160" cy="219456"/>
          </a:xfrm>
          <a:solidFill>
            <a:srgbClr val="FAE6E6"/>
          </a:solidFill>
          <a:ln w="12700">
            <a:noFill/>
          </a:ln>
          <a:prstGeom prst="rect">
            <a:avLst/>
          </a:prstGeom>
        </p:spPr>
      </p:sp>
      <p:sp>
        <p:nvSpPr>
          <p:cNvPr id="116" name="Text 116"/>
          <p:cNvSpPr>
            <a:spLocks noGrp="1"/>
          </p:cNvSpPr>
          <p:nvPr/>
        </p:nvSpPr>
        <p:spPr>
          <a:xfrm>
            <a:off x="2606040" y="5239512"/>
            <a:ext cx="24231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22.0</a:t>
            </a:r>
            <a:endParaRPr lang="en-US" sz="1180"/>
          </a:p>
        </p:txBody>
      </p:sp>
      <p:sp>
        <p:nvSpPr>
          <p:cNvPr id="117" name="Cell 117"/>
          <p:cNvSpPr>
            <a:spLocks noGrp="1"/>
          </p:cNvSpPr>
          <p:nvPr/>
        </p:nvSpPr>
        <p:spPr>
          <a:xfrm>
            <a:off x="5230368" y="5248656"/>
            <a:ext cx="1600200" cy="219456"/>
          </a:xfrm>
          <a:solidFill>
            <a:srgbClr val="FCF2E0"/>
          </a:solidFill>
          <a:ln w="12700">
            <a:noFill/>
          </a:ln>
          <a:prstGeom prst="rect">
            <a:avLst/>
          </a:prstGeom>
        </p:spPr>
      </p:sp>
      <p:sp>
        <p:nvSpPr>
          <p:cNvPr id="118" name="Text 118"/>
          <p:cNvSpPr>
            <a:spLocks noGrp="1"/>
          </p:cNvSpPr>
          <p:nvPr/>
        </p:nvSpPr>
        <p:spPr>
          <a:xfrm>
            <a:off x="5230368" y="5239512"/>
            <a:ext cx="160020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9.0</a:t>
            </a:r>
            <a:endParaRPr lang="en-US" sz="1180" b="1"/>
          </a:p>
        </p:txBody>
      </p:sp>
      <p:sp>
        <p:nvSpPr>
          <p:cNvPr id="119" name="Cell 119"/>
          <p:cNvSpPr>
            <a:spLocks noGrp="1"/>
          </p:cNvSpPr>
          <p:nvPr/>
        </p:nvSpPr>
        <p:spPr>
          <a:xfrm>
            <a:off x="7269480" y="5248656"/>
            <a:ext cx="1965960" cy="219456"/>
          </a:xfrm>
          <a:solidFill>
            <a:srgbClr val="FAE6E6"/>
          </a:solidFill>
          <a:ln w="12700">
            <a:noFill/>
          </a:ln>
          <a:prstGeom prst="rect">
            <a:avLst/>
          </a:prstGeom>
        </p:spPr>
      </p:sp>
      <p:sp>
        <p:nvSpPr>
          <p:cNvPr id="120" name="Text 120"/>
          <p:cNvSpPr>
            <a:spLocks noGrp="1"/>
          </p:cNvSpPr>
          <p:nvPr/>
        </p:nvSpPr>
        <p:spPr>
          <a:xfrm>
            <a:off x="7269480" y="5239512"/>
            <a:ext cx="19659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22.0</a:t>
            </a:r>
            <a:endParaRPr lang="en-US" sz="1180"/>
          </a:p>
        </p:txBody>
      </p:sp>
      <p:sp>
        <p:nvSpPr>
          <p:cNvPr id="121" name="Cell 121"/>
          <p:cNvSpPr>
            <a:spLocks noGrp="1"/>
          </p:cNvSpPr>
          <p:nvPr/>
        </p:nvSpPr>
        <p:spPr>
          <a:xfrm>
            <a:off x="9875520" y="5248656"/>
            <a:ext cx="1938528" cy="219456"/>
          </a:xfrm>
          <a:solidFill>
            <a:srgbClr val="FCF2E0"/>
          </a:solidFill>
          <a:ln w="12700">
            <a:noFill/>
          </a:ln>
          <a:prstGeom prst="rect">
            <a:avLst/>
          </a:prstGeom>
        </p:spPr>
      </p:sp>
      <p:sp>
        <p:nvSpPr>
          <p:cNvPr id="122" name="Text 122"/>
          <p:cNvSpPr>
            <a:spLocks noGrp="1"/>
          </p:cNvSpPr>
          <p:nvPr/>
        </p:nvSpPr>
        <p:spPr>
          <a:xfrm>
            <a:off x="9875520" y="5239512"/>
            <a:ext cx="193852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10.5</a:t>
            </a:r>
            <a:endParaRPr lang="en-US" sz="1180"/>
          </a:p>
        </p:txBody>
      </p:sp>
      <p:sp>
        <p:nvSpPr>
          <p:cNvPr id="123" name="Text 123"/>
          <p:cNvSpPr>
            <a:spLocks noGrp="1"/>
          </p:cNvSpPr>
          <p:nvPr/>
        </p:nvSpPr>
        <p:spPr>
          <a:xfrm>
            <a:off x="274320" y="5486400"/>
            <a:ext cx="221284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10">
                <a:solidFill>
                  <a:srgbClr val="000000"/>
                </a:solidFill>
              </a:rPr>
              <a:t>GuidedRojoA3N</a:t>
            </a:r>
            <a:endParaRPr lang="en-US" sz="1210"/>
          </a:p>
        </p:txBody>
      </p:sp>
      <p:sp>
        <p:nvSpPr>
          <p:cNvPr id="124" name="Cell 124"/>
          <p:cNvSpPr>
            <a:spLocks noGrp="1"/>
          </p:cNvSpPr>
          <p:nvPr/>
        </p:nvSpPr>
        <p:spPr>
          <a:xfrm>
            <a:off x="2606040" y="5495544"/>
            <a:ext cx="242316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125" name="Text 125"/>
          <p:cNvSpPr>
            <a:spLocks noGrp="1"/>
          </p:cNvSpPr>
          <p:nvPr/>
        </p:nvSpPr>
        <p:spPr>
          <a:xfrm>
            <a:off x="2606040" y="5486400"/>
            <a:ext cx="24231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0.0</a:t>
            </a:r>
            <a:endParaRPr lang="en-US" sz="1180" b="1"/>
          </a:p>
        </p:txBody>
      </p:sp>
      <p:sp>
        <p:nvSpPr>
          <p:cNvPr id="126" name="Cell 126"/>
          <p:cNvSpPr>
            <a:spLocks noGrp="1"/>
          </p:cNvSpPr>
          <p:nvPr/>
        </p:nvSpPr>
        <p:spPr>
          <a:xfrm>
            <a:off x="5230368" y="5495544"/>
            <a:ext cx="160020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127" name="Text 127"/>
          <p:cNvSpPr>
            <a:spLocks noGrp="1"/>
          </p:cNvSpPr>
          <p:nvPr/>
        </p:nvSpPr>
        <p:spPr>
          <a:xfrm>
            <a:off x="5230368" y="5486400"/>
            <a:ext cx="160020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1.7</a:t>
            </a:r>
            <a:endParaRPr lang="en-US" sz="1180"/>
          </a:p>
        </p:txBody>
      </p:sp>
      <p:sp>
        <p:nvSpPr>
          <p:cNvPr id="128" name="Cell 128"/>
          <p:cNvSpPr>
            <a:spLocks noGrp="1"/>
          </p:cNvSpPr>
          <p:nvPr/>
        </p:nvSpPr>
        <p:spPr>
          <a:xfrm>
            <a:off x="7269480" y="5495544"/>
            <a:ext cx="196596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129" name="Text 129"/>
          <p:cNvSpPr>
            <a:spLocks noGrp="1"/>
          </p:cNvSpPr>
          <p:nvPr/>
        </p:nvSpPr>
        <p:spPr>
          <a:xfrm>
            <a:off x="7269480" y="5486400"/>
            <a:ext cx="19659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0.0</a:t>
            </a:r>
            <a:endParaRPr lang="en-US" sz="1180" b="1"/>
          </a:p>
        </p:txBody>
      </p:sp>
      <p:sp>
        <p:nvSpPr>
          <p:cNvPr id="130" name="Cell 130"/>
          <p:cNvSpPr>
            <a:spLocks noGrp="1"/>
          </p:cNvSpPr>
          <p:nvPr/>
        </p:nvSpPr>
        <p:spPr>
          <a:xfrm>
            <a:off x="9875520" y="5495544"/>
            <a:ext cx="1938528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131" name="Text 131"/>
          <p:cNvSpPr>
            <a:spLocks noGrp="1"/>
          </p:cNvSpPr>
          <p:nvPr/>
        </p:nvSpPr>
        <p:spPr>
          <a:xfrm>
            <a:off x="9875520" y="5486400"/>
            <a:ext cx="193852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0.0</a:t>
            </a:r>
            <a:endParaRPr lang="en-US" sz="1180" b="1"/>
          </a:p>
        </p:txBody>
      </p:sp>
      <p:sp>
        <p:nvSpPr>
          <p:cNvPr id="132" name="Text 132"/>
          <p:cNvSpPr>
            <a:spLocks noGrp="1"/>
          </p:cNvSpPr>
          <p:nvPr/>
        </p:nvSpPr>
        <p:spPr>
          <a:xfrm>
            <a:off x="274320" y="5733288"/>
            <a:ext cx="221284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10">
                <a:solidFill>
                  <a:srgbClr val="000000"/>
                </a:solidFill>
              </a:rPr>
              <a:t>NaiveMCTS</a:t>
            </a:r>
            <a:endParaRPr lang="en-US" sz="1210"/>
          </a:p>
        </p:txBody>
      </p:sp>
      <p:sp>
        <p:nvSpPr>
          <p:cNvPr id="133" name="Cell 133"/>
          <p:cNvSpPr>
            <a:spLocks noGrp="1"/>
          </p:cNvSpPr>
          <p:nvPr/>
        </p:nvSpPr>
        <p:spPr>
          <a:xfrm>
            <a:off x="2606040" y="5742432"/>
            <a:ext cx="242316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134" name="Text 134"/>
          <p:cNvSpPr>
            <a:spLocks noGrp="1"/>
          </p:cNvSpPr>
          <p:nvPr/>
        </p:nvSpPr>
        <p:spPr>
          <a:xfrm>
            <a:off x="2606040" y="5733288"/>
            <a:ext cx="24231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0.0</a:t>
            </a:r>
            <a:endParaRPr lang="en-US" sz="1180" b="1"/>
          </a:p>
        </p:txBody>
      </p:sp>
      <p:sp>
        <p:nvSpPr>
          <p:cNvPr id="135" name="Cell 135"/>
          <p:cNvSpPr>
            <a:spLocks noGrp="1"/>
          </p:cNvSpPr>
          <p:nvPr/>
        </p:nvSpPr>
        <p:spPr>
          <a:xfrm>
            <a:off x="5230368" y="5742432"/>
            <a:ext cx="1600200" cy="219456"/>
          </a:xfrm>
          <a:solidFill>
            <a:srgbClr val="E8F5E8"/>
          </a:solidFill>
          <a:ln w="12700">
            <a:noFill/>
          </a:ln>
          <a:prstGeom prst="rect">
            <a:avLst/>
          </a:prstGeom>
        </p:spPr>
      </p:sp>
      <p:sp>
        <p:nvSpPr>
          <p:cNvPr id="136" name="Text 136"/>
          <p:cNvSpPr>
            <a:spLocks noGrp="1"/>
          </p:cNvSpPr>
          <p:nvPr/>
        </p:nvSpPr>
        <p:spPr>
          <a:xfrm>
            <a:off x="5230368" y="5733288"/>
            <a:ext cx="160020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2.7</a:t>
            </a:r>
            <a:endParaRPr lang="en-US" sz="1180"/>
          </a:p>
        </p:txBody>
      </p:sp>
      <p:sp>
        <p:nvSpPr>
          <p:cNvPr id="137" name="Cell 137"/>
          <p:cNvSpPr>
            <a:spLocks noGrp="1"/>
          </p:cNvSpPr>
          <p:nvPr/>
        </p:nvSpPr>
        <p:spPr>
          <a:xfrm>
            <a:off x="7269480" y="5742432"/>
            <a:ext cx="1965960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138" name="Text 138"/>
          <p:cNvSpPr>
            <a:spLocks noGrp="1"/>
          </p:cNvSpPr>
          <p:nvPr/>
        </p:nvSpPr>
        <p:spPr>
          <a:xfrm>
            <a:off x="7269480" y="5733288"/>
            <a:ext cx="19659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0.0</a:t>
            </a:r>
            <a:endParaRPr lang="en-US" sz="1180" b="1"/>
          </a:p>
        </p:txBody>
      </p:sp>
      <p:sp>
        <p:nvSpPr>
          <p:cNvPr id="139" name="Cell 139"/>
          <p:cNvSpPr>
            <a:spLocks noGrp="1"/>
          </p:cNvSpPr>
          <p:nvPr/>
        </p:nvSpPr>
        <p:spPr>
          <a:xfrm>
            <a:off x="9875520" y="5742432"/>
            <a:ext cx="1938528" cy="219456"/>
          </a:xfrm>
          <a:solidFill>
            <a:srgbClr val="DBEEDA"/>
          </a:solidFill>
          <a:ln w="12700">
            <a:noFill/>
          </a:ln>
          <a:prstGeom prst="rect">
            <a:avLst/>
          </a:prstGeom>
        </p:spPr>
      </p:sp>
      <p:sp>
        <p:nvSpPr>
          <p:cNvPr id="140" name="Text 140"/>
          <p:cNvSpPr>
            <a:spLocks noGrp="1"/>
          </p:cNvSpPr>
          <p:nvPr/>
        </p:nvSpPr>
        <p:spPr>
          <a:xfrm>
            <a:off x="9875520" y="5733288"/>
            <a:ext cx="193852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0.0</a:t>
            </a:r>
            <a:endParaRPr lang="en-US" sz="1180" b="1"/>
          </a:p>
        </p:txBody>
      </p:sp>
      <p:sp>
        <p:nvSpPr>
          <p:cNvPr id="141" name="Rule 141"/>
          <p:cNvSpPr>
            <a:spLocks noGrp="1"/>
          </p:cNvSpPr>
          <p:nvPr/>
        </p:nvSpPr>
        <p:spPr>
          <a:xfrm>
            <a:off x="274320" y="5952744"/>
            <a:ext cx="11658600" cy="10973"/>
          </a:xfrm>
          <a:solidFill>
            <a:srgbClr val="000000"/>
          </a:solidFill>
          <a:ln w="12700">
            <a:noFill/>
          </a:ln>
          <a:prstGeom prst="rect">
            <a:avLst/>
          </a:prstGeom>
        </p:spPr>
      </p:sp>
      <p:sp>
        <p:nvSpPr>
          <p:cNvPr id="142" name="Text 142"/>
          <p:cNvSpPr>
            <a:spLocks noGrp="1"/>
          </p:cNvSpPr>
          <p:nvPr/>
        </p:nvSpPr>
        <p:spPr>
          <a:xfrm>
            <a:off x="274320" y="5980176"/>
            <a:ext cx="221284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210">
                <a:solidFill>
                  <a:srgbClr val="000000"/>
                </a:solidFill>
              </a:rPr>
              <a:t>overall</a:t>
            </a:r>
            <a:endParaRPr lang="en-US" sz="1210"/>
          </a:p>
        </p:txBody>
      </p:sp>
      <p:sp>
        <p:nvSpPr>
          <p:cNvPr id="143" name="Cell 143"/>
          <p:cNvSpPr>
            <a:spLocks noGrp="1"/>
          </p:cNvSpPr>
          <p:nvPr/>
        </p:nvSpPr>
        <p:spPr>
          <a:xfrm>
            <a:off x="2606040" y="5989320"/>
            <a:ext cx="2423160" cy="219456"/>
          </a:xfrm>
          <a:solidFill>
            <a:srgbClr val="FCF2E0"/>
          </a:solidFill>
          <a:ln w="12700">
            <a:noFill/>
          </a:ln>
          <a:prstGeom prst="rect">
            <a:avLst/>
          </a:prstGeom>
        </p:spPr>
      </p:sp>
      <p:sp>
        <p:nvSpPr>
          <p:cNvPr id="144" name="Text 144"/>
          <p:cNvSpPr>
            <a:spLocks noGrp="1"/>
          </p:cNvSpPr>
          <p:nvPr/>
        </p:nvSpPr>
        <p:spPr>
          <a:xfrm>
            <a:off x="2606040" y="5980176"/>
            <a:ext cx="24231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9.9</a:t>
            </a:r>
            <a:endParaRPr lang="en-US" sz="1180"/>
          </a:p>
        </p:txBody>
      </p:sp>
      <p:sp>
        <p:nvSpPr>
          <p:cNvPr id="145" name="Cell 145"/>
          <p:cNvSpPr>
            <a:spLocks noGrp="1"/>
          </p:cNvSpPr>
          <p:nvPr/>
        </p:nvSpPr>
        <p:spPr>
          <a:xfrm>
            <a:off x="5230368" y="5989320"/>
            <a:ext cx="1600200" cy="219456"/>
          </a:xfrm>
          <a:solidFill>
            <a:srgbClr val="E8F5E8"/>
          </a:solidFill>
          <a:ln w="12700">
            <a:noFill/>
          </a:ln>
          <a:prstGeom prst="rect">
            <a:avLst/>
          </a:prstGeom>
        </p:spPr>
      </p:sp>
      <p:sp>
        <p:nvSpPr>
          <p:cNvPr id="146" name="Text 146"/>
          <p:cNvSpPr>
            <a:spLocks noGrp="1"/>
          </p:cNvSpPr>
          <p:nvPr/>
        </p:nvSpPr>
        <p:spPr>
          <a:xfrm>
            <a:off x="5230368" y="5980176"/>
            <a:ext cx="160020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7.7</a:t>
            </a:r>
            <a:endParaRPr lang="en-US" sz="1180"/>
          </a:p>
        </p:txBody>
      </p:sp>
      <p:sp>
        <p:nvSpPr>
          <p:cNvPr id="147" name="Cell 147"/>
          <p:cNvSpPr>
            <a:spLocks noGrp="1"/>
          </p:cNvSpPr>
          <p:nvPr/>
        </p:nvSpPr>
        <p:spPr>
          <a:xfrm>
            <a:off x="7269480" y="5989320"/>
            <a:ext cx="1965960" cy="219456"/>
          </a:xfrm>
          <a:solidFill>
            <a:srgbClr val="E8F5E8"/>
          </a:solidFill>
          <a:ln w="12700">
            <a:noFill/>
          </a:ln>
          <a:prstGeom prst="rect">
            <a:avLst/>
          </a:prstGeom>
        </p:spPr>
      </p:sp>
      <p:sp>
        <p:nvSpPr>
          <p:cNvPr id="148" name="Text 148"/>
          <p:cNvSpPr>
            <a:spLocks noGrp="1"/>
          </p:cNvSpPr>
          <p:nvPr/>
        </p:nvSpPr>
        <p:spPr>
          <a:xfrm>
            <a:off x="7269480" y="5980176"/>
            <a:ext cx="1965960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>
                <a:solidFill>
                  <a:srgbClr val="000000"/>
                </a:solidFill>
              </a:rPr>
              <a:t>7.5</a:t>
            </a:r>
            <a:endParaRPr lang="en-US" sz="1180"/>
          </a:p>
        </p:txBody>
      </p:sp>
      <p:sp>
        <p:nvSpPr>
          <p:cNvPr id="149" name="Cell 149"/>
          <p:cNvSpPr>
            <a:spLocks noGrp="1"/>
          </p:cNvSpPr>
          <p:nvPr/>
        </p:nvSpPr>
        <p:spPr>
          <a:xfrm>
            <a:off x="9875520" y="5989320"/>
            <a:ext cx="1938528" cy="219456"/>
          </a:xfrm>
          <a:solidFill>
            <a:srgbClr val="E8F5E8"/>
          </a:solidFill>
          <a:ln w="12700">
            <a:noFill/>
          </a:ln>
          <a:prstGeom prst="rect">
            <a:avLst/>
          </a:prstGeom>
        </p:spPr>
      </p:sp>
      <p:sp>
        <p:nvSpPr>
          <p:cNvPr id="150" name="Text 150"/>
          <p:cNvSpPr>
            <a:spLocks noGrp="1"/>
          </p:cNvSpPr>
          <p:nvPr/>
        </p:nvSpPr>
        <p:spPr>
          <a:xfrm>
            <a:off x="9875520" y="5980176"/>
            <a:ext cx="1938528" cy="246888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ctr">
            <a:spAutoFit/>
          </a:bodyPr>
          <a:lstStyle/>
          <a:p>
            <a:pPr algn="ctr" marL="0" indent="0">
              <a:buNone/>
            </a:pPr>
            <a:r>
              <a:rPr lang="en-US" sz="1180" b="1">
                <a:solidFill>
                  <a:srgbClr val="000000"/>
                </a:solidFill>
              </a:rPr>
              <a:t>2.2</a:t>
            </a:r>
            <a:endParaRPr lang="en-US" sz="1180" b="1"/>
          </a:p>
        </p:txBody>
      </p:sp>
      <p:sp>
        <p:nvSpPr>
          <p:cNvPr id="151" name="Rule 151"/>
          <p:cNvSpPr>
            <a:spLocks noGrp="1"/>
          </p:cNvSpPr>
          <p:nvPr/>
        </p:nvSpPr>
        <p:spPr>
          <a:xfrm>
            <a:off x="274320" y="6208776"/>
            <a:ext cx="11658600" cy="16459"/>
          </a:xfrm>
          <a:solidFill>
            <a:srgbClr val="000000"/>
          </a:solidFill>
          <a:ln w="12700">
            <a:noFill/>
          </a:ln>
          <a:prstGeom prst="rect">
            <a:avLst/>
          </a:prstGeom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/>
        </p:nvSpPr>
        <p:spPr>
          <a:xfrm>
            <a:off x="0" y="0"/>
            <a:ext cx="12191695" cy="512064"/>
          </a:xfrm>
          <a:solidFill>
            <a:srgbClr val="EBF2F9"/>
          </a:solidFill>
          <a:ln w="12700">
            <a:noFill/>
          </a:ln>
          <a:prstGeom prst="rect">
            <a:avLst/>
          </a:prstGeom>
        </p:spPr>
      </p:sp>
      <p:sp>
        <p:nvSpPr>
          <p:cNvPr id="3" name="Text 3"/>
          <p:cNvSpPr>
            <a:spLocks noGrp="1"/>
          </p:cNvSpPr>
          <p:nvPr/>
        </p:nvSpPr>
        <p:spPr>
          <a:xfrm>
            <a:off x="164592" y="54864"/>
            <a:ext cx="9784080" cy="310896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marL="0" indent="0">
              <a:buNone/>
            </a:pPr>
            <a:r>
              <a:rPr lang="en-US" sz="2300">
                <a:solidFill>
                  <a:srgbClr val="003D7C"/>
                </a:solidFill>
              </a:rPr>
              <a:t>Interpretation of the Results</a:t>
            </a:r>
            <a:endParaRPr lang="en-US" sz="2300"/>
          </a:p>
        </p:txBody>
      </p:sp>
      <p:sp>
        <p:nvSpPr>
          <p:cNvPr id="4" name="Text 4"/>
          <p:cNvSpPr>
            <a:spLocks noGrp="1"/>
          </p:cNvSpPr>
          <p:nvPr/>
        </p:nvSpPr>
        <p:spPr>
          <a:xfrm>
            <a:off x="11750040" y="6510528"/>
            <a:ext cx="347472" cy="146304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lang="en-US" sz="850">
                <a:solidFill>
                  <a:srgbClr val="000000"/>
                </a:solidFill>
              </a:rPr>
              <a:t>16 / 23</a:t>
            </a:r>
            <a:endParaRPr lang="en-US" sz="850"/>
          </a:p>
        </p:txBody>
      </p:sp>
      <p:sp>
        <p:nvSpPr>
          <p:cNvPr id="5" name="Text 5"/>
          <p:cNvSpPr>
            <a:spLocks noGrp="1"/>
          </p:cNvSpPr>
          <p:nvPr/>
        </p:nvSpPr>
        <p:spPr>
          <a:xfrm>
            <a:off x="502920" y="1325880"/>
            <a:ext cx="1828800" cy="256032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000000"/>
                </a:solidFill>
              </a:rPr>
              <a:t>hypothesis:</a:t>
            </a:r>
            <a:endParaRPr lang="en-US" sz="1600"/>
          </a:p>
        </p:txBody>
      </p:sp>
      <p:sp>
        <p:nvSpPr>
          <p:cNvPr id="6" name="Text 6"/>
          <p:cNvSpPr>
            <a:spLocks noGrp="1"/>
          </p:cNvSpPr>
          <p:nvPr/>
        </p:nvSpPr>
        <p:spPr>
          <a:xfrm>
            <a:off x="960120" y="1691640"/>
            <a:ext cx="10241280" cy="1600200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</a:rPr>
              <a:t>LT turns robustness against diverse opponents into part of the optimization target</a:t>
            </a:r>
            <a:endParaRPr lang="en-US" sz="180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750">
                <a:solidFill>
                  <a:srgbClr val="000000"/>
                </a:solidFill>
              </a:rPr>
              <a:t>LT helps to find a better local optimum that is then further improved by fine-tuning, while pure PPO often gets stuck in not as generalized local optima.</a:t>
            </a:r>
            <a:endParaRPr lang="en-US" sz="17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/>
        </p:nvSpPr>
        <p:spPr>
          <a:xfrm>
            <a:off x="0" y="0"/>
            <a:ext cx="12191695" cy="512064"/>
          </a:xfrm>
          <a:solidFill>
            <a:srgbClr val="EBF2F9"/>
          </a:solidFill>
          <a:ln w="12700">
            <a:noFill/>
          </a:ln>
          <a:prstGeom prst="rect">
            <a:avLst/>
          </a:prstGeom>
        </p:spPr>
      </p:sp>
      <p:sp>
        <p:nvSpPr>
          <p:cNvPr id="3" name="Text 3"/>
          <p:cNvSpPr>
            <a:spLocks noGrp="1"/>
          </p:cNvSpPr>
          <p:nvPr/>
        </p:nvSpPr>
        <p:spPr>
          <a:xfrm>
            <a:off x="164592" y="54864"/>
            <a:ext cx="9784080" cy="310896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marL="0" indent="0">
              <a:buNone/>
            </a:pPr>
            <a:r>
              <a:rPr lang="en-US" sz="2300">
                <a:solidFill>
                  <a:srgbClr val="003D7C"/>
                </a:solidFill>
              </a:rPr>
              <a:t>Player 1 Priority</a:t>
            </a:r>
            <a:endParaRPr lang="en-US" sz="2300"/>
          </a:p>
        </p:txBody>
      </p:sp>
      <p:sp>
        <p:nvSpPr>
          <p:cNvPr id="4" name="Text 4"/>
          <p:cNvSpPr>
            <a:spLocks noGrp="1"/>
          </p:cNvSpPr>
          <p:nvPr/>
        </p:nvSpPr>
        <p:spPr>
          <a:xfrm>
            <a:off x="11750040" y="6510528"/>
            <a:ext cx="347472" cy="146304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lang="en-US" sz="850">
                <a:solidFill>
                  <a:srgbClr val="000000"/>
                </a:solidFill>
              </a:rPr>
              <a:t>17 / 23</a:t>
            </a:r>
            <a:endParaRPr lang="en-US" sz="850"/>
          </a:p>
        </p:txBody>
      </p:sp>
      <p:sp>
        <p:nvSpPr>
          <p:cNvPr id="5" name="Shadow 5"/>
          <p:cNvSpPr>
            <a:spLocks noGrp="1"/>
          </p:cNvSpPr>
          <p:nvPr/>
        </p:nvSpPr>
        <p:spPr>
          <a:xfrm>
            <a:off x="228600" y="1280160"/>
            <a:ext cx="11887200" cy="1143000"/>
          </a:xfrm>
          <a:solidFill>
            <a:srgbClr val="B5B5B5"/>
          </a:solidFill>
          <a:ln w="12700">
            <a:noFill/>
          </a:ln>
          <a:prstGeom prst="roundRect">
            <a:avLst/>
          </a:prstGeom>
        </p:spPr>
      </p:sp>
      <p:sp>
        <p:nvSpPr>
          <p:cNvPr id="6" name="Block 6"/>
          <p:cNvSpPr>
            <a:spLocks noGrp="1"/>
          </p:cNvSpPr>
          <p:nvPr/>
        </p:nvSpPr>
        <p:spPr>
          <a:xfrm>
            <a:off x="164592" y="1207008"/>
            <a:ext cx="11887200" cy="1143000"/>
          </a:xfrm>
          <a:solidFill>
            <a:srgbClr val="EBF2F9"/>
          </a:solidFill>
          <a:ln w="12700">
            <a:noFill/>
          </a:ln>
          <a:prstGeom prst="roundRect">
            <a:avLst/>
          </a:prstGeom>
        </p:spPr>
      </p:sp>
      <p:sp>
        <p:nvSpPr>
          <p:cNvPr id="7" name="BlockTitle 7"/>
          <p:cNvSpPr>
            <a:spLocks noGrp="1"/>
          </p:cNvSpPr>
          <p:nvPr/>
        </p:nvSpPr>
        <p:spPr>
          <a:xfrm>
            <a:off x="164592" y="1207008"/>
            <a:ext cx="11887200" cy="384048"/>
          </a:xfrm>
          <a:solidFill>
            <a:srgbClr val="003D7C"/>
          </a:solidFill>
          <a:ln w="12700">
            <a:noFill/>
          </a:ln>
          <a:prstGeom prst="roundRect">
            <a:avLst/>
          </a:prstGeom>
        </p:spPr>
        <p:txBody>
          <a:bodyPr wrap="square" lIns="109728" rIns="91440" tIns="54864" bIns="18288" anchor="ctr">
            <a:sp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Observation</a:t>
            </a:r>
            <a:endParaRPr lang="en-US" sz="1700"/>
          </a:p>
        </p:txBody>
      </p:sp>
      <p:sp>
        <p:nvSpPr>
          <p:cNvPr id="8" name="Text 8"/>
          <p:cNvSpPr>
            <a:spLocks noGrp="1"/>
          </p:cNvSpPr>
          <p:nvPr/>
        </p:nvSpPr>
        <p:spPr>
          <a:xfrm>
            <a:off x="274320" y="1664208"/>
            <a:ext cx="11667744" cy="649224"/>
          </a:xfrm>
          <a:noFill/>
          <a:ln w="12700">
            <a:noFill/>
          </a:ln>
          <a:prstGeom prst="rect">
            <a:avLst/>
          </a:prstGeom>
        </p:spPr>
        <p:txBody>
          <a:bodyPr wrap="square" lIns="18288" rIns="18288" tIns="0" bIns="0" anchor="t">
            <a:spAutoFit/>
          </a:bodyPr>
          <a:lstStyle/>
          <a:p>
            <a:pPr marL="0" indent="0">
              <a:buNone/>
            </a:pPr>
            <a:r>
              <a:rPr lang="en-US" sz="1560">
                <a:solidFill>
                  <a:srgbClr val="000000"/>
                </a:solidFill>
              </a:rPr>
              <a:t>MicroRTS gives player 1 action priority, so a potential concern is that self-play style training could accidentally favor player-1-specific behavior.</a:t>
            </a:r>
            <a:endParaRPr lang="en-US" sz="1560"/>
          </a:p>
        </p:txBody>
      </p:sp>
      <p:sp>
        <p:nvSpPr>
          <p:cNvPr id="9" name="Shadow 9"/>
          <p:cNvSpPr>
            <a:spLocks noGrp="1"/>
          </p:cNvSpPr>
          <p:nvPr/>
        </p:nvSpPr>
        <p:spPr>
          <a:xfrm>
            <a:off x="228600" y="2816352"/>
            <a:ext cx="11887200" cy="1170432"/>
          </a:xfrm>
          <a:solidFill>
            <a:srgbClr val="B5B5B5"/>
          </a:solidFill>
          <a:ln w="12700">
            <a:noFill/>
          </a:ln>
          <a:prstGeom prst="roundRect">
            <a:avLst/>
          </a:prstGeom>
        </p:spPr>
      </p:sp>
      <p:sp>
        <p:nvSpPr>
          <p:cNvPr id="10" name="Block 10"/>
          <p:cNvSpPr>
            <a:spLocks noGrp="1"/>
          </p:cNvSpPr>
          <p:nvPr/>
        </p:nvSpPr>
        <p:spPr>
          <a:xfrm>
            <a:off x="164592" y="2743200"/>
            <a:ext cx="11887200" cy="1170432"/>
          </a:xfrm>
          <a:solidFill>
            <a:srgbClr val="EBF2F9"/>
          </a:solidFill>
          <a:ln w="12700">
            <a:noFill/>
          </a:ln>
          <a:prstGeom prst="roundRect">
            <a:avLst/>
          </a:prstGeom>
        </p:spPr>
      </p:sp>
      <p:sp>
        <p:nvSpPr>
          <p:cNvPr id="11" name="BlockTitle 11"/>
          <p:cNvSpPr>
            <a:spLocks noGrp="1"/>
          </p:cNvSpPr>
          <p:nvPr/>
        </p:nvSpPr>
        <p:spPr>
          <a:xfrm>
            <a:off x="164592" y="2743200"/>
            <a:ext cx="11887200" cy="384048"/>
          </a:xfrm>
          <a:solidFill>
            <a:srgbClr val="003D7C"/>
          </a:solidFill>
          <a:ln w="12700">
            <a:noFill/>
          </a:ln>
          <a:prstGeom prst="roundRect">
            <a:avLst/>
          </a:prstGeom>
        </p:spPr>
        <p:txBody>
          <a:bodyPr wrap="square" lIns="109728" rIns="91440" tIns="54864" bIns="18288" anchor="ctr">
            <a:sp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Result from the thesis</a:t>
            </a:r>
            <a:endParaRPr lang="en-US" sz="1700"/>
          </a:p>
        </p:txBody>
      </p:sp>
      <p:sp>
        <p:nvSpPr>
          <p:cNvPr id="12" name="Text 12"/>
          <p:cNvSpPr>
            <a:spLocks noGrp="1"/>
          </p:cNvSpPr>
          <p:nvPr/>
        </p:nvSpPr>
        <p:spPr>
          <a:xfrm>
            <a:off x="274320" y="3200400"/>
            <a:ext cx="11667744" cy="676656"/>
          </a:xfrm>
          <a:noFill/>
          <a:ln w="12700">
            <a:noFill/>
          </a:ln>
          <a:prstGeom prst="rect">
            <a:avLst/>
          </a:prstGeom>
        </p:spPr>
        <p:txBody>
          <a:bodyPr wrap="square" lIns="18288" rIns="18288" tIns="0" bIns="0" anchor="t">
            <a:spAutoFit/>
          </a:bodyPr>
          <a:lstStyle/>
          <a:p>
            <a:pPr marL="0" indent="0">
              <a:buNone/>
            </a:pPr>
            <a:r>
              <a:rPr lang="en-US" sz="1560">
                <a:solidFill>
                  <a:srgbClr val="000000"/>
                </a:solidFill>
              </a:rPr>
              <a:t>In one self-match evaluation of the same agent over 200 games, player 1 achieved 38% wins, 28% draws and player 2 achieved 34% wins.</a:t>
            </a:r>
            <a:endParaRPr lang="en-US" sz="1560"/>
          </a:p>
        </p:txBody>
      </p:sp>
      <p:sp>
        <p:nvSpPr>
          <p:cNvPr id="13" name="Text 13"/>
          <p:cNvSpPr>
            <a:spLocks noGrp="1"/>
          </p:cNvSpPr>
          <p:nvPr/>
        </p:nvSpPr>
        <p:spPr>
          <a:xfrm>
            <a:off x="411480" y="4224528"/>
            <a:ext cx="11155680" cy="868680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</a:rPr>
              <a:t>minimal effect on evaluations</a:t>
            </a:r>
            <a:endParaRPr lang="en-US" sz="170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</a:rPr>
              <a:t>alternating the learning side to prevent the agent from exploiting player-1-specific priority</a:t>
            </a:r>
            <a:endParaRPr lang="en-US" sz="1700"/>
          </a:p>
        </p:txBody>
      </p:sp>
      <p:pic>
        <p:nvPicPr>
          <p:cNvPr id="14" name="Video 1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762279" y="5485045"/>
            <a:ext cx="2667443" cy="2677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/>
        </p:nvSpPr>
        <p:spPr>
          <a:xfrm>
            <a:off x="0" y="0"/>
            <a:ext cx="12191695" cy="512064"/>
          </a:xfrm>
          <a:solidFill>
            <a:srgbClr val="EBF2F9"/>
          </a:solidFill>
          <a:ln w="12700">
            <a:noFill/>
          </a:ln>
          <a:prstGeom prst="rect">
            <a:avLst/>
          </a:prstGeom>
        </p:spPr>
      </p:sp>
      <p:sp>
        <p:nvSpPr>
          <p:cNvPr id="3" name="Text 3"/>
          <p:cNvSpPr>
            <a:spLocks noGrp="1"/>
          </p:cNvSpPr>
          <p:nvPr/>
        </p:nvSpPr>
        <p:spPr>
          <a:xfrm>
            <a:off x="164592" y="54864"/>
            <a:ext cx="9784080" cy="310896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marL="0" indent="0">
              <a:buNone/>
            </a:pPr>
            <a:r>
              <a:rPr lang="en-US" sz="2300">
                <a:solidFill>
                  <a:srgbClr val="003D7C"/>
                </a:solidFill>
              </a:rPr>
              <a:t>Main Limitation: Diversity</a:t>
            </a:r>
            <a:endParaRPr lang="en-US" sz="2300"/>
          </a:p>
        </p:txBody>
      </p:sp>
      <p:sp>
        <p:nvSpPr>
          <p:cNvPr id="4" name="Text 4"/>
          <p:cNvSpPr>
            <a:spLocks noGrp="1"/>
          </p:cNvSpPr>
          <p:nvPr/>
        </p:nvSpPr>
        <p:spPr>
          <a:xfrm>
            <a:off x="11750040" y="6510528"/>
            <a:ext cx="347472" cy="146304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lang="en-US" sz="850">
                <a:solidFill>
                  <a:srgbClr val="000000"/>
                </a:solidFill>
              </a:rPr>
              <a:t>18 / 23</a:t>
            </a:r>
            <a:endParaRPr lang="en-US" sz="850"/>
          </a:p>
        </p:txBody>
      </p:sp>
      <p:pic>
        <p:nvPicPr>
          <p:cNvPr id="5" name="Video 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65106" y="1637954"/>
            <a:ext cx="10061788" cy="364308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/>
        </p:nvSpPr>
        <p:spPr>
          <a:xfrm>
            <a:off x="0" y="0"/>
            <a:ext cx="12191695" cy="512064"/>
          </a:xfrm>
          <a:solidFill>
            <a:srgbClr val="EBF2F9"/>
          </a:solidFill>
          <a:ln w="12700">
            <a:noFill/>
          </a:ln>
          <a:prstGeom prst="rect">
            <a:avLst/>
          </a:prstGeom>
        </p:spPr>
      </p:sp>
      <p:sp>
        <p:nvSpPr>
          <p:cNvPr id="3" name="Text 3"/>
          <p:cNvSpPr>
            <a:spLocks noGrp="1"/>
          </p:cNvSpPr>
          <p:nvPr/>
        </p:nvSpPr>
        <p:spPr>
          <a:xfrm>
            <a:off x="164592" y="54864"/>
            <a:ext cx="9784080" cy="310896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marL="0" indent="0">
              <a:buNone/>
            </a:pPr>
            <a:r>
              <a:rPr lang="en-US" sz="2300">
                <a:solidFill>
                  <a:srgbClr val="003D7C"/>
                </a:solidFill>
              </a:rPr>
              <a:t>Main Limitation: Diversity</a:t>
            </a:r>
            <a:endParaRPr lang="en-US" sz="2300"/>
          </a:p>
        </p:txBody>
      </p:sp>
      <p:sp>
        <p:nvSpPr>
          <p:cNvPr id="4" name="Text 4"/>
          <p:cNvSpPr>
            <a:spLocks noGrp="1"/>
          </p:cNvSpPr>
          <p:nvPr/>
        </p:nvSpPr>
        <p:spPr>
          <a:xfrm>
            <a:off x="11750040" y="6510528"/>
            <a:ext cx="347472" cy="146304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lang="en-US" sz="850">
                <a:solidFill>
                  <a:srgbClr val="000000"/>
                </a:solidFill>
              </a:rPr>
              <a:t>19 / 23</a:t>
            </a:r>
            <a:endParaRPr lang="en-US" sz="850"/>
          </a:p>
        </p:txBody>
      </p:sp>
      <p:sp>
        <p:nvSpPr>
          <p:cNvPr id="5" name="Text 5"/>
          <p:cNvSpPr>
            <a:spLocks noGrp="1"/>
          </p:cNvSpPr>
          <p:nvPr/>
        </p:nvSpPr>
        <p:spPr>
          <a:xfrm>
            <a:off x="2926080" y="1417320"/>
            <a:ext cx="6766560" cy="3886200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</a:rPr>
              <a:t>Exploiters initialized from similar policies tend to discover similar weaknesses.</a:t>
            </a:r>
            <a:endParaRPr lang="en-US" sz="180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</a:rPr>
              <a:t>Some strategically different exploits are hard to reach because they require first unlearning the Base Agent's preferred behavior.</a:t>
            </a:r>
            <a:endParaRPr lang="en-US" sz="180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</a:rPr>
              <a:t>New initial agents with focuses on different unit types to improve exploiter diversity and Main Agent generalization.</a:t>
            </a:r>
            <a:endParaRPr lang="en-US" sz="180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</a:rPr>
              <a:t>Hypothesis: LT therefore depends strongly on the diversity already present at initialization</a:t>
            </a:r>
            <a:endParaRPr lang="en-US"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/>
        </p:nvSpPr>
        <p:spPr>
          <a:xfrm>
            <a:off x="0" y="0"/>
            <a:ext cx="12191695" cy="512064"/>
          </a:xfrm>
          <a:solidFill>
            <a:srgbClr val="EBF2F9"/>
          </a:solidFill>
          <a:ln w="12700">
            <a:noFill/>
          </a:ln>
          <a:prstGeom prst="rect">
            <a:avLst/>
          </a:prstGeom>
        </p:spPr>
      </p:sp>
      <p:sp>
        <p:nvSpPr>
          <p:cNvPr id="3" name="Text 3"/>
          <p:cNvSpPr>
            <a:spLocks noGrp="1"/>
          </p:cNvSpPr>
          <p:nvPr/>
        </p:nvSpPr>
        <p:spPr>
          <a:xfrm>
            <a:off x="164592" y="54864"/>
            <a:ext cx="9784080" cy="310896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marL="0" indent="0">
              <a:buNone/>
            </a:pPr>
            <a:r>
              <a:rPr lang="en-US" sz="2300">
                <a:solidFill>
                  <a:srgbClr val="003D7C"/>
                </a:solidFill>
              </a:rPr>
              <a:t>Scope and Remaining Limitations</a:t>
            </a:r>
            <a:endParaRPr lang="en-US" sz="2300"/>
          </a:p>
        </p:txBody>
      </p:sp>
      <p:sp>
        <p:nvSpPr>
          <p:cNvPr id="4" name="Text 4"/>
          <p:cNvSpPr>
            <a:spLocks noGrp="1"/>
          </p:cNvSpPr>
          <p:nvPr/>
        </p:nvSpPr>
        <p:spPr>
          <a:xfrm>
            <a:off x="11750040" y="6510528"/>
            <a:ext cx="347472" cy="146304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lang="en-US" sz="850">
                <a:solidFill>
                  <a:srgbClr val="000000"/>
                </a:solidFill>
              </a:rPr>
              <a:t>20 / 23</a:t>
            </a:r>
            <a:endParaRPr lang="en-US" sz="850"/>
          </a:p>
        </p:txBody>
      </p:sp>
      <p:sp>
        <p:nvSpPr>
          <p:cNvPr id="5" name="Text 5"/>
          <p:cNvSpPr>
            <a:spLocks noGrp="1"/>
          </p:cNvSpPr>
          <p:nvPr/>
        </p:nvSpPr>
        <p:spPr>
          <a:xfrm>
            <a:off x="530352" y="1463040"/>
            <a:ext cx="5852160" cy="1828800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</a:rPr>
              <a:t>evaluation is limited to one map: basesWorkers16x16A</a:t>
            </a:r>
            <a:endParaRPr lang="en-US" sz="180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</a:rPr>
              <a:t>the setting uses full observability and no fog of war</a:t>
            </a:r>
            <a:endParaRPr lang="en-US" sz="180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</a:rPr>
              <a:t>high computational cost</a:t>
            </a:r>
            <a:endParaRPr lang="en-US" sz="180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</a:rPr>
              <a:t>exploiter diversity</a:t>
            </a:r>
            <a:endParaRPr lang="en-US" sz="1800"/>
          </a:p>
        </p:txBody>
      </p:sp>
      <p:sp>
        <p:nvSpPr>
          <p:cNvPr id="6" name="Shadow 6"/>
          <p:cNvSpPr>
            <a:spLocks noGrp="1"/>
          </p:cNvSpPr>
          <p:nvPr/>
        </p:nvSpPr>
        <p:spPr>
          <a:xfrm>
            <a:off x="539496" y="4050792"/>
            <a:ext cx="11155680" cy="960120"/>
          </a:xfrm>
          <a:solidFill>
            <a:srgbClr val="B5B5B5"/>
          </a:solidFill>
          <a:ln w="12700">
            <a:noFill/>
          </a:ln>
          <a:prstGeom prst="roundRect">
            <a:avLst/>
          </a:prstGeom>
        </p:spPr>
      </p:sp>
      <p:sp>
        <p:nvSpPr>
          <p:cNvPr id="7" name="Block 7"/>
          <p:cNvSpPr>
            <a:spLocks noGrp="1"/>
          </p:cNvSpPr>
          <p:nvPr/>
        </p:nvSpPr>
        <p:spPr>
          <a:xfrm>
            <a:off x="475488" y="3977640"/>
            <a:ext cx="11155680" cy="960120"/>
          </a:xfrm>
          <a:solidFill>
            <a:srgbClr val="EBF2F9"/>
          </a:solidFill>
          <a:ln w="12700">
            <a:noFill/>
          </a:ln>
          <a:prstGeom prst="roundRect">
            <a:avLst/>
          </a:prstGeom>
        </p:spPr>
      </p:sp>
      <p:sp>
        <p:nvSpPr>
          <p:cNvPr id="8" name="BlockTitle 8"/>
          <p:cNvSpPr>
            <a:spLocks noGrp="1"/>
          </p:cNvSpPr>
          <p:nvPr/>
        </p:nvSpPr>
        <p:spPr>
          <a:xfrm>
            <a:off x="475488" y="3977640"/>
            <a:ext cx="11155680" cy="384048"/>
          </a:xfrm>
          <a:solidFill>
            <a:srgbClr val="003D7C"/>
          </a:solidFill>
          <a:ln w="12700">
            <a:noFill/>
          </a:ln>
          <a:prstGeom prst="roundRect">
            <a:avLst/>
          </a:prstGeom>
        </p:spPr>
        <p:txBody>
          <a:bodyPr wrap="square" lIns="109728" rIns="91440" tIns="54864" bIns="18288" anchor="ctr">
            <a:sp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Takeaway</a:t>
            </a:r>
            <a:endParaRPr lang="en-US" sz="1700"/>
          </a:p>
        </p:txBody>
      </p:sp>
      <p:sp>
        <p:nvSpPr>
          <p:cNvPr id="9" name="Text 9"/>
          <p:cNvSpPr>
            <a:spLocks noGrp="1"/>
          </p:cNvSpPr>
          <p:nvPr/>
        </p:nvSpPr>
        <p:spPr>
          <a:xfrm>
            <a:off x="585216" y="4434840"/>
            <a:ext cx="10936224" cy="466344"/>
          </a:xfrm>
          <a:noFill/>
          <a:ln w="12700">
            <a:noFill/>
          </a:ln>
          <a:prstGeom prst="rect">
            <a:avLst/>
          </a:prstGeom>
        </p:spPr>
        <p:txBody>
          <a:bodyPr wrap="square" lIns="18288" rIns="18288" tIns="0" bIns="0" anchor="t">
            <a:spAutoFit/>
          </a:bodyPr>
          <a:lstStyle/>
          <a:p>
            <a:pPr marL="0" indent="0">
              <a:buNone/>
            </a:pPr>
            <a:r>
              <a:rPr lang="en-US" sz="1540">
                <a:solidFill>
                  <a:srgbClr val="000000"/>
                </a:solidFill>
              </a:rPr>
              <a:t>The method works, but the strength of the final result depends strongly on the diversity and cost of the training setup.</a:t>
            </a:r>
            <a:endParaRPr lang="en-US" sz="154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/>
        </p:nvSpPr>
        <p:spPr>
          <a:xfrm>
            <a:off x="0" y="0"/>
            <a:ext cx="12191695" cy="512064"/>
          </a:xfrm>
          <a:solidFill>
            <a:srgbClr val="EBF2F9"/>
          </a:solidFill>
          <a:ln w="12700">
            <a:noFill/>
          </a:ln>
          <a:prstGeom prst="rect">
            <a:avLst/>
          </a:prstGeom>
        </p:spPr>
      </p:sp>
      <p:sp>
        <p:nvSpPr>
          <p:cNvPr id="3" name="Text 3"/>
          <p:cNvSpPr>
            <a:spLocks noGrp="1"/>
          </p:cNvSpPr>
          <p:nvPr/>
        </p:nvSpPr>
        <p:spPr>
          <a:xfrm>
            <a:off x="164592" y="54864"/>
            <a:ext cx="9784080" cy="310896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marL="0" indent="0">
              <a:buNone/>
            </a:pPr>
            <a:r>
              <a:rPr lang="en-US" sz="2300">
                <a:solidFill>
                  <a:srgbClr val="003D7C"/>
                </a:solidFill>
              </a:rPr>
              <a:t>Future Work</a:t>
            </a:r>
            <a:endParaRPr lang="en-US" sz="2300"/>
          </a:p>
        </p:txBody>
      </p:sp>
      <p:sp>
        <p:nvSpPr>
          <p:cNvPr id="4" name="Text 4"/>
          <p:cNvSpPr>
            <a:spLocks noGrp="1"/>
          </p:cNvSpPr>
          <p:nvPr/>
        </p:nvSpPr>
        <p:spPr>
          <a:xfrm>
            <a:off x="11750040" y="6510528"/>
            <a:ext cx="347472" cy="146304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lang="en-US" sz="850">
                <a:solidFill>
                  <a:srgbClr val="000000"/>
                </a:solidFill>
              </a:rPr>
              <a:t>21 / 23</a:t>
            </a:r>
            <a:endParaRPr lang="en-US" sz="850"/>
          </a:p>
        </p:txBody>
      </p:sp>
      <p:sp>
        <p:nvSpPr>
          <p:cNvPr id="5" name="Text 5"/>
          <p:cNvSpPr>
            <a:spLocks noGrp="1"/>
          </p:cNvSpPr>
          <p:nvPr/>
        </p:nvSpPr>
        <p:spPr>
          <a:xfrm>
            <a:off x="2240280" y="1627632"/>
            <a:ext cx="7772400" cy="2011680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</a:rPr>
              <a:t>train on multiple maps and with fog of war</a:t>
            </a:r>
            <a:endParaRPr lang="en-US" sz="190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</a:rPr>
              <a:t>improve the diversity and strength of initial agents</a:t>
            </a:r>
            <a:endParaRPr lang="en-US" sz="190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</a:rPr>
              <a:t>reduce computational cost of MicroRTS training</a:t>
            </a:r>
            <a:endParaRPr lang="en-US" sz="190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</a:rPr>
              <a:t>investigate stronger diversity mechanisms for exploiters</a:t>
            </a:r>
            <a:endParaRPr lang="en-US" sz="1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/>
        </p:nvSpPr>
        <p:spPr>
          <a:xfrm>
            <a:off x="0" y="0"/>
            <a:ext cx="12191695" cy="512064"/>
          </a:xfrm>
          <a:solidFill>
            <a:srgbClr val="EBF2F9"/>
          </a:solidFill>
          <a:ln w="12700">
            <a:noFill/>
          </a:ln>
          <a:prstGeom prst="rect">
            <a:avLst/>
          </a:prstGeom>
        </p:spPr>
      </p:sp>
      <p:sp>
        <p:nvSpPr>
          <p:cNvPr id="3" name="Text 3"/>
          <p:cNvSpPr>
            <a:spLocks noGrp="1"/>
          </p:cNvSpPr>
          <p:nvPr/>
        </p:nvSpPr>
        <p:spPr>
          <a:xfrm>
            <a:off x="164592" y="54864"/>
            <a:ext cx="9784080" cy="310896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marL="0" indent="0">
              <a:buNone/>
            </a:pPr>
            <a:r>
              <a:rPr lang="en-US" sz="2300">
                <a:solidFill>
                  <a:srgbClr val="003D7C"/>
                </a:solidFill>
              </a:rPr>
              <a:t>Conclusion</a:t>
            </a:r>
            <a:endParaRPr lang="en-US" sz="2300"/>
          </a:p>
        </p:txBody>
      </p:sp>
      <p:sp>
        <p:nvSpPr>
          <p:cNvPr id="4" name="Text 4"/>
          <p:cNvSpPr>
            <a:spLocks noGrp="1"/>
          </p:cNvSpPr>
          <p:nvPr/>
        </p:nvSpPr>
        <p:spPr>
          <a:xfrm>
            <a:off x="11750040" y="6510528"/>
            <a:ext cx="347472" cy="146304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lang="en-US" sz="850">
                <a:solidFill>
                  <a:srgbClr val="000000"/>
                </a:solidFill>
              </a:rPr>
              <a:t>22 / 23</a:t>
            </a:r>
            <a:endParaRPr lang="en-US" sz="850"/>
          </a:p>
        </p:txBody>
      </p:sp>
      <p:sp>
        <p:nvSpPr>
          <p:cNvPr id="5" name="Shadow 5"/>
          <p:cNvSpPr>
            <a:spLocks noGrp="1"/>
          </p:cNvSpPr>
          <p:nvPr/>
        </p:nvSpPr>
        <p:spPr>
          <a:xfrm>
            <a:off x="228600" y="1261872"/>
            <a:ext cx="11887200" cy="914400"/>
          </a:xfrm>
          <a:solidFill>
            <a:srgbClr val="B5B5B5"/>
          </a:solidFill>
          <a:ln w="12700">
            <a:noFill/>
          </a:ln>
          <a:prstGeom prst="roundRect">
            <a:avLst/>
          </a:prstGeom>
        </p:spPr>
      </p:sp>
      <p:sp>
        <p:nvSpPr>
          <p:cNvPr id="6" name="Block 6"/>
          <p:cNvSpPr>
            <a:spLocks noGrp="1"/>
          </p:cNvSpPr>
          <p:nvPr/>
        </p:nvSpPr>
        <p:spPr>
          <a:xfrm>
            <a:off x="164592" y="1188720"/>
            <a:ext cx="11887200" cy="914400"/>
          </a:xfrm>
          <a:solidFill>
            <a:srgbClr val="EBF2F9"/>
          </a:solidFill>
          <a:ln w="12700">
            <a:noFill/>
          </a:ln>
          <a:prstGeom prst="roundRect">
            <a:avLst/>
          </a:prstGeom>
        </p:spPr>
      </p:sp>
      <p:sp>
        <p:nvSpPr>
          <p:cNvPr id="7" name="BlockTitle 7"/>
          <p:cNvSpPr>
            <a:spLocks noGrp="1"/>
          </p:cNvSpPr>
          <p:nvPr/>
        </p:nvSpPr>
        <p:spPr>
          <a:xfrm>
            <a:off x="164592" y="1188720"/>
            <a:ext cx="11887200" cy="384048"/>
          </a:xfrm>
          <a:solidFill>
            <a:srgbClr val="003D7C"/>
          </a:solidFill>
          <a:ln w="12700">
            <a:noFill/>
          </a:ln>
          <a:prstGeom prst="roundRect">
            <a:avLst/>
          </a:prstGeom>
        </p:spPr>
        <p:txBody>
          <a:bodyPr wrap="square" lIns="109728" rIns="91440" tIns="54864" bIns="18288" anchor="ctr">
            <a:sp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Conclusion</a:t>
            </a:r>
            <a:endParaRPr lang="en-US" sz="1700"/>
          </a:p>
        </p:txBody>
      </p:sp>
      <p:sp>
        <p:nvSpPr>
          <p:cNvPr id="8" name="Text 8"/>
          <p:cNvSpPr>
            <a:spLocks noGrp="1"/>
          </p:cNvSpPr>
          <p:nvPr/>
        </p:nvSpPr>
        <p:spPr>
          <a:xfrm>
            <a:off x="274320" y="1645920"/>
            <a:ext cx="11667744" cy="420624"/>
          </a:xfrm>
          <a:noFill/>
          <a:ln w="12700">
            <a:noFill/>
          </a:ln>
          <a:prstGeom prst="rect">
            <a:avLst/>
          </a:prstGeom>
        </p:spPr>
        <p:txBody>
          <a:bodyPr wrap="square" lIns="18288" rIns="18288" tIns="0" bIns="0" anchor="t">
            <a:spAutoFit/>
          </a:bodyPr>
          <a:lstStyle/>
          <a:p>
            <a:pPr marL="0" indent="0">
              <a:buNone/>
            </a:pPr>
            <a:r>
              <a:rPr lang="en-US" sz="1520">
                <a:solidFill>
                  <a:srgbClr val="000000"/>
                </a:solidFill>
              </a:rPr>
              <a:t>LT with PPO improves the robustness and generalization of the MicroRTS Base Agent. Additional PPO fine-tuning improves the final agent even further.</a:t>
            </a:r>
            <a:endParaRPr lang="en-US" sz="1520"/>
          </a:p>
        </p:txBody>
      </p:sp>
      <p:sp>
        <p:nvSpPr>
          <p:cNvPr id="9" name="Shadow 9"/>
          <p:cNvSpPr>
            <a:spLocks noGrp="1"/>
          </p:cNvSpPr>
          <p:nvPr/>
        </p:nvSpPr>
        <p:spPr>
          <a:xfrm>
            <a:off x="228600" y="2560320"/>
            <a:ext cx="11887200" cy="914400"/>
          </a:xfrm>
          <a:solidFill>
            <a:srgbClr val="B5B5B5"/>
          </a:solidFill>
          <a:ln w="12700">
            <a:noFill/>
          </a:ln>
          <a:prstGeom prst="roundRect">
            <a:avLst/>
          </a:prstGeom>
        </p:spPr>
      </p:sp>
      <p:sp>
        <p:nvSpPr>
          <p:cNvPr id="10" name="Block 10"/>
          <p:cNvSpPr>
            <a:spLocks noGrp="1"/>
          </p:cNvSpPr>
          <p:nvPr/>
        </p:nvSpPr>
        <p:spPr>
          <a:xfrm>
            <a:off x="164592" y="2487168"/>
            <a:ext cx="11887200" cy="914400"/>
          </a:xfrm>
          <a:solidFill>
            <a:srgbClr val="EBF2F9"/>
          </a:solidFill>
          <a:ln w="12700">
            <a:noFill/>
          </a:ln>
          <a:prstGeom prst="roundRect">
            <a:avLst/>
          </a:prstGeom>
        </p:spPr>
      </p:sp>
      <p:sp>
        <p:nvSpPr>
          <p:cNvPr id="11" name="BlockTitle 11"/>
          <p:cNvSpPr>
            <a:spLocks noGrp="1"/>
          </p:cNvSpPr>
          <p:nvPr/>
        </p:nvSpPr>
        <p:spPr>
          <a:xfrm>
            <a:off x="164592" y="2487168"/>
            <a:ext cx="11887200" cy="384048"/>
          </a:xfrm>
          <a:solidFill>
            <a:srgbClr val="003D7C"/>
          </a:solidFill>
          <a:ln w="12700">
            <a:noFill/>
          </a:ln>
          <a:prstGeom prst="roundRect">
            <a:avLst/>
          </a:prstGeom>
        </p:spPr>
        <p:txBody>
          <a:bodyPr wrap="square" lIns="109728" rIns="91440" tIns="54864" bIns="18288" anchor="ctr">
            <a:sp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Key takeaway</a:t>
            </a:r>
            <a:endParaRPr lang="en-US" sz="1700"/>
          </a:p>
        </p:txBody>
      </p:sp>
      <p:sp>
        <p:nvSpPr>
          <p:cNvPr id="12" name="Text 12"/>
          <p:cNvSpPr>
            <a:spLocks noGrp="1"/>
          </p:cNvSpPr>
          <p:nvPr/>
        </p:nvSpPr>
        <p:spPr>
          <a:xfrm>
            <a:off x="274320" y="2944368"/>
            <a:ext cx="11667744" cy="420624"/>
          </a:xfrm>
          <a:noFill/>
          <a:ln w="12700">
            <a:noFill/>
          </a:ln>
          <a:prstGeom prst="rect">
            <a:avLst/>
          </a:prstGeom>
        </p:spPr>
        <p:txBody>
          <a:bodyPr wrap="square" lIns="18288" rIns="18288" tIns="0" bIns="0" anchor="t">
            <a:spAutoFit/>
          </a:bodyPr>
          <a:lstStyle/>
          <a:p>
            <a:pPr marL="0" indent="0">
              <a:buNone/>
            </a:pPr>
            <a:r>
              <a:rPr lang="en-US" sz="1470">
                <a:solidFill>
                  <a:srgbClr val="000000"/>
                </a:solidFill>
              </a:rPr>
              <a:t>The effectiveness of LT depends strongly on exploiter diversity, which in turn depends on the diversity of the initial agents and BC experts.</a:t>
            </a:r>
            <a:endParaRPr lang="en-US" sz="1470"/>
          </a:p>
        </p:txBody>
      </p:sp>
      <p:sp>
        <p:nvSpPr>
          <p:cNvPr id="13" name="Text 13"/>
          <p:cNvSpPr>
            <a:spLocks noGrp="1"/>
          </p:cNvSpPr>
          <p:nvPr/>
        </p:nvSpPr>
        <p:spPr>
          <a:xfrm>
            <a:off x="694944" y="4023360"/>
            <a:ext cx="7955280" cy="1280160"/>
          </a:xfrm>
          <a:noFill/>
          <a:ln w="12700">
            <a:noFill/>
          </a:ln>
          <a:prstGeom prst="rect">
            <a:avLst/>
          </a:prstGeom>
        </p:spPr>
        <p:txBody>
          <a:bodyPr wrap="square" lIns="45720" rIns="45720" tIns="18288" bIns="18288" anchor="t">
            <a:spAutoFit/>
          </a:bodyPr>
          <a:lstStyle/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</a:rPr>
              <a:t>LT improves most matchups and the overall performance</a:t>
            </a:r>
            <a:endParaRPr lang="en-US" sz="180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</a:rPr>
              <a:t>fine-tuning further improves the final agent</a:t>
            </a:r>
            <a:endParaRPr lang="en-US" sz="1800"/>
          </a:p>
          <a:p>
            <a:pPr lvl="0" marL="256032" indent="-164592">
              <a:buClr>
                <a:srgbClr val="003D7C"/>
              </a:buClr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</a:rPr>
              <a:t>diversity of initial agents is the critical practical factor</a:t>
            </a:r>
            <a:endParaRPr lang="en-US"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/>
        </p:nvSpPr>
        <p:spPr>
          <a:xfrm>
            <a:off x="0" y="0"/>
            <a:ext cx="12191695" cy="512064"/>
          </a:xfrm>
          <a:solidFill>
            <a:srgbClr val="EBF2F9"/>
          </a:solidFill>
          <a:ln w="12700">
            <a:noFill/>
          </a:ln>
          <a:prstGeom prst="rect">
            <a:avLst/>
          </a:prstGeom>
        </p:spPr>
      </p:sp>
      <p:sp>
        <p:nvSpPr>
          <p:cNvPr id="3" name="Text 3"/>
          <p:cNvSpPr>
            <a:spLocks noGrp="1"/>
          </p:cNvSpPr>
          <p:nvPr/>
        </p:nvSpPr>
        <p:spPr>
          <a:xfrm>
            <a:off x="164592" y="54864"/>
            <a:ext cx="9784080" cy="310896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marL="0" indent="0">
              <a:buNone/>
            </a:pPr>
            <a:r>
              <a:rPr lang="en-US" sz="2300">
                <a:solidFill>
                  <a:srgbClr val="003D7C"/>
                </a:solidFill>
              </a:rPr>
              <a:t>Thank you</a:t>
            </a:r>
            <a:endParaRPr lang="en-US" sz="2300"/>
          </a:p>
        </p:txBody>
      </p:sp>
      <p:sp>
        <p:nvSpPr>
          <p:cNvPr id="4" name="Text 4"/>
          <p:cNvSpPr>
            <a:spLocks noGrp="1"/>
          </p:cNvSpPr>
          <p:nvPr/>
        </p:nvSpPr>
        <p:spPr>
          <a:xfrm>
            <a:off x="11750040" y="6510528"/>
            <a:ext cx="347472" cy="146304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lang="en-US" sz="850">
                <a:solidFill>
                  <a:srgbClr val="000000"/>
                </a:solidFill>
              </a:rPr>
              <a:t>23 / 23</a:t>
            </a:r>
            <a:endParaRPr lang="en-US" sz="850"/>
          </a:p>
        </p:txBody>
      </p:sp>
      <p:sp>
        <p:nvSpPr>
          <p:cNvPr id="5" name="Text 5"/>
          <p:cNvSpPr>
            <a:spLocks noGrp="1"/>
          </p:cNvSpPr>
          <p:nvPr/>
        </p:nvSpPr>
        <p:spPr>
          <a:xfrm>
            <a:off x="4297680" y="3063240"/>
            <a:ext cx="3657600" cy="502920"/>
          </a:xfrm>
          <a:noFill/>
          <a:ln w="12700">
            <a:noFill/>
          </a:ln>
          <a:prstGeom prst="rect">
            <a:avLst/>
          </a:prstGeom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lang="en-US" sz="2400">
                <a:solidFill>
                  <a:srgbClr val="000000"/>
                </a:solidFill>
              </a:rPr>
              <a:t>Questions?</a:t>
            </a:r>
            <a:endParaRPr 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2026-04-09T14:49:48Z</dcterms:created>
  <dcterms:modified xsi:type="dcterms:W3CDTF">2026-04-09T14:49:48Z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